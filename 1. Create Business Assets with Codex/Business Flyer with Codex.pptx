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565" r:id="rId2"/>
    <p:sldId id="4305" r:id="rId3"/>
    <p:sldId id="4312" r:id="rId4"/>
    <p:sldId id="4211" r:id="rId5"/>
    <p:sldId id="4317" r:id="rId6"/>
    <p:sldId id="4315" r:id="rId7"/>
    <p:sldId id="4208" r:id="rId8"/>
    <p:sldId id="4302" r:id="rId9"/>
    <p:sldId id="4303" r:id="rId10"/>
    <p:sldId id="4304" r:id="rId11"/>
    <p:sldId id="4241" r:id="rId12"/>
    <p:sldId id="4310" r:id="rId13"/>
    <p:sldId id="4316" r:id="rId14"/>
    <p:sldId id="4319" r:id="rId15"/>
    <p:sldId id="4118" r:id="rId16"/>
    <p:sldId id="4249" r:id="rId17"/>
    <p:sldId id="4248" r:id="rId18"/>
    <p:sldId id="4320" r:id="rId19"/>
    <p:sldId id="264" r:id="rId20"/>
    <p:sldId id="27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BFD1"/>
    <a:srgbClr val="D56E48"/>
    <a:srgbClr val="0C1752"/>
    <a:srgbClr val="11CCDD"/>
    <a:srgbClr val="F9F9F9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0" autoAdjust="0"/>
    <p:restoredTop sz="94721"/>
  </p:normalViewPr>
  <p:slideViewPr>
    <p:cSldViewPr snapToGrid="0" snapToObjects="1">
      <p:cViewPr varScale="1">
        <p:scale>
          <a:sx n="125" d="100"/>
          <a:sy n="125" d="100"/>
        </p:scale>
        <p:origin x="9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E133A9-7D45-45CD-A3DC-2774D97681C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C377708F-9617-449E-9C75-F2E30BB25EF1}">
      <dgm:prSet phldrT="[Text]"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Guide behaviour with System Prompt </a:t>
          </a:r>
        </a:p>
        <a:p>
          <a:pPr>
            <a:buNone/>
          </a:pPr>
          <a:r>
            <a:rPr lang="en-CA" sz="1200" i="1" dirty="0">
              <a:latin typeface="Montserrat" panose="00000500000000000000" pitchFamily="2" charset="0"/>
            </a:rPr>
            <a:t>Set the persona, rules, constraints and output format</a:t>
          </a:r>
        </a:p>
      </dgm:t>
    </dgm:pt>
    <dgm:pt modelId="{38C8BA5D-BC51-4631-B9B9-45C1F475B179}" type="parTrans" cxnId="{DC6224D7-428A-4605-BDF5-F3D49FE16A9B}">
      <dgm:prSet/>
      <dgm:spPr/>
      <dgm:t>
        <a:bodyPr/>
        <a:lstStyle/>
        <a:p>
          <a:endParaRPr lang="en-CA" sz="1800"/>
        </a:p>
      </dgm:t>
    </dgm:pt>
    <dgm:pt modelId="{78D7DD6B-9583-455E-B820-160EF9925347}" type="sibTrans" cxnId="{DC6224D7-428A-4605-BDF5-F3D49FE16A9B}">
      <dgm:prSet/>
      <dgm:spPr/>
      <dgm:t>
        <a:bodyPr/>
        <a:lstStyle/>
        <a:p>
          <a:endParaRPr lang="en-CA" sz="1800"/>
        </a:p>
      </dgm:t>
    </dgm:pt>
    <dgm:pt modelId="{DFADFC1F-4DCE-48E0-8B20-B38798AEB70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Ask for reasoning (Chain of thought):</a:t>
          </a:r>
        </a:p>
        <a:p>
          <a:pPr>
            <a:buNone/>
          </a:pPr>
          <a:r>
            <a:rPr lang="en-CA" sz="1200" i="1" dirty="0">
              <a:latin typeface="Montserrat" panose="00000500000000000000" pitchFamily="2" charset="0"/>
            </a:rPr>
            <a:t>“explain your steps” or “show the calculation before the result” to build trust and transparency.</a:t>
          </a:r>
          <a:endParaRPr lang="en-CA" sz="1200" b="1" i="1" dirty="0">
            <a:latin typeface="Montserrat" panose="00000500000000000000" pitchFamily="2" charset="0"/>
          </a:endParaRPr>
        </a:p>
      </dgm:t>
    </dgm:pt>
    <dgm:pt modelId="{0E4A02D9-5C07-4C4B-81DB-BAD6CF75123C}" type="parTrans" cxnId="{8DFE8A23-4949-4D8E-8C9F-14DD6F33C9EB}">
      <dgm:prSet/>
      <dgm:spPr/>
      <dgm:t>
        <a:bodyPr/>
        <a:lstStyle/>
        <a:p>
          <a:endParaRPr lang="en-CA" sz="1800"/>
        </a:p>
      </dgm:t>
    </dgm:pt>
    <dgm:pt modelId="{106C6D3A-33A1-4913-976A-58B57DCC7952}" type="sibTrans" cxnId="{8DFE8A23-4949-4D8E-8C9F-14DD6F33C9EB}">
      <dgm:prSet/>
      <dgm:spPr/>
      <dgm:t>
        <a:bodyPr/>
        <a:lstStyle/>
        <a:p>
          <a:endParaRPr lang="en-CA" sz="1800"/>
        </a:p>
      </dgm:t>
    </dgm:pt>
    <dgm:pt modelId="{B91A964C-6172-485A-86B7-4B25EADEC528}">
      <dgm:prSet phldrT="[Text]" custT="1"/>
      <dgm:spPr>
        <a:solidFill>
          <a:srgbClr val="1BBFD1"/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Add constraints &amp; boundaries:</a:t>
          </a:r>
        </a:p>
        <a:p>
          <a:pPr>
            <a:buNone/>
          </a:pPr>
          <a:r>
            <a:rPr lang="en-CA" sz="1200" i="1" dirty="0">
              <a:latin typeface="Montserrat" panose="00000500000000000000" pitchFamily="2" charset="0"/>
            </a:rPr>
            <a:t>Word limits, style guides, or examples help the model aim correctly. “Explain in 3 bullet points, max 15 words each.”</a:t>
          </a:r>
        </a:p>
      </dgm:t>
    </dgm:pt>
    <dgm:pt modelId="{B1295144-BA29-4E62-828C-01C9F0C06B3A}" type="parTrans" cxnId="{BA57CB58-F18D-4AE8-AD4B-9E4278371107}">
      <dgm:prSet/>
      <dgm:spPr/>
      <dgm:t>
        <a:bodyPr/>
        <a:lstStyle/>
        <a:p>
          <a:endParaRPr lang="en-CA" sz="1800"/>
        </a:p>
      </dgm:t>
    </dgm:pt>
    <dgm:pt modelId="{930AD882-C193-468F-9041-E70A1E3D350F}" type="sibTrans" cxnId="{BA57CB58-F18D-4AE8-AD4B-9E4278371107}">
      <dgm:prSet/>
      <dgm:spPr/>
      <dgm:t>
        <a:bodyPr/>
        <a:lstStyle/>
        <a:p>
          <a:endParaRPr lang="en-CA" sz="1800"/>
        </a:p>
      </dgm:t>
    </dgm:pt>
    <dgm:pt modelId="{E255C582-217A-4F0E-BC96-74D1C2C63503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Iterate and refine</a:t>
          </a:r>
        </a:p>
        <a:p>
          <a:pPr>
            <a:buNone/>
          </a:pPr>
          <a:r>
            <a:rPr lang="en-CA" sz="1200" i="1" dirty="0">
              <a:latin typeface="Montserrat" panose="00000500000000000000" pitchFamily="2" charset="0"/>
            </a:rPr>
            <a:t>The first draft is rarely the final. Treat prompts like a conversation; tweak wording, add detail, narrow scope until the output clicks.</a:t>
          </a:r>
        </a:p>
      </dgm:t>
    </dgm:pt>
    <dgm:pt modelId="{9731069B-26F2-45D9-A531-87749F2925E9}" type="parTrans" cxnId="{BD866F3E-CD9D-4B46-9597-7DDA595D9029}">
      <dgm:prSet/>
      <dgm:spPr/>
      <dgm:t>
        <a:bodyPr/>
        <a:lstStyle/>
        <a:p>
          <a:endParaRPr lang="en-CA" sz="1800"/>
        </a:p>
      </dgm:t>
    </dgm:pt>
    <dgm:pt modelId="{EE7A146E-B8A7-4923-A9C6-812026F41285}" type="sibTrans" cxnId="{BD866F3E-CD9D-4B46-9597-7DDA595D9029}">
      <dgm:prSet/>
      <dgm:spPr/>
      <dgm:t>
        <a:bodyPr/>
        <a:lstStyle/>
        <a:p>
          <a:endParaRPr lang="en-CA" sz="1800"/>
        </a:p>
      </dgm:t>
    </dgm:pt>
    <dgm:pt modelId="{F70BCC85-1453-41C7-A706-BE87F4D7E851}">
      <dgm:prSet phldrT="[Text]"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Anchor with examples (Few Shot Prompting): </a:t>
          </a:r>
        </a:p>
        <a:p>
          <a:pPr>
            <a:buNone/>
          </a:pPr>
          <a:r>
            <a:rPr lang="en-CA" sz="1200" i="1" dirty="0">
              <a:latin typeface="Montserrat" panose="00000500000000000000" pitchFamily="2" charset="0"/>
            </a:rPr>
            <a:t>Show the AI what “good” looks like. A sample answer, tone, or structure is worth paragraphs of instructions.</a:t>
          </a:r>
        </a:p>
      </dgm:t>
    </dgm:pt>
    <dgm:pt modelId="{880C7D08-56C8-4EA7-BFCA-B5F6EC6E161E}" type="parTrans" cxnId="{329A5C90-7F6C-4A11-949A-E0320759C099}">
      <dgm:prSet/>
      <dgm:spPr/>
      <dgm:t>
        <a:bodyPr/>
        <a:lstStyle/>
        <a:p>
          <a:endParaRPr lang="en-CA" sz="1400"/>
        </a:p>
      </dgm:t>
    </dgm:pt>
    <dgm:pt modelId="{C6A798C3-4EE7-4A7E-93DA-8B281CE55C74}" type="sibTrans" cxnId="{329A5C90-7F6C-4A11-949A-E0320759C099}">
      <dgm:prSet/>
      <dgm:spPr/>
      <dgm:t>
        <a:bodyPr/>
        <a:lstStyle/>
        <a:p>
          <a:endParaRPr lang="en-CA" sz="1400"/>
        </a:p>
      </dgm:t>
    </dgm:pt>
    <dgm:pt modelId="{1906BCDF-CF9F-4BDC-A432-9E31F12DC198}">
      <dgm:prSet phldrT="[Text]"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CA" sz="1200" b="1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Structured Output </a:t>
          </a:r>
        </a:p>
        <a:p>
          <a:pPr>
            <a:buNone/>
          </a:pPr>
          <a:r>
            <a:rPr lang="en-US" sz="1200" i="1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Request JSON, XML, or specific formats</a:t>
          </a:r>
          <a:endParaRPr lang="en-CA" sz="1200" i="1" kern="1200" dirty="0">
            <a:solidFill>
              <a:prstClr val="white"/>
            </a:solidFill>
            <a:latin typeface="Montserrat" panose="00000500000000000000" pitchFamily="2" charset="0"/>
            <a:ea typeface="+mn-ea"/>
            <a:cs typeface="+mn-cs"/>
          </a:endParaRPr>
        </a:p>
      </dgm:t>
    </dgm:pt>
    <dgm:pt modelId="{AFAE71FE-4603-4EE5-80AA-E8B20FE275EE}" type="parTrans" cxnId="{D8C6FBF2-E556-4885-A210-1C7F67D2D872}">
      <dgm:prSet/>
      <dgm:spPr/>
      <dgm:t>
        <a:bodyPr/>
        <a:lstStyle/>
        <a:p>
          <a:endParaRPr lang="en-CA" sz="1400"/>
        </a:p>
      </dgm:t>
    </dgm:pt>
    <dgm:pt modelId="{BA686162-0039-4DE0-967F-E3B87E90010A}" type="sibTrans" cxnId="{D8C6FBF2-E556-4885-A210-1C7F67D2D872}">
      <dgm:prSet/>
      <dgm:spPr/>
      <dgm:t>
        <a:bodyPr/>
        <a:lstStyle/>
        <a:p>
          <a:endParaRPr lang="en-CA" sz="1400"/>
        </a:p>
      </dgm:t>
    </dgm:pt>
    <dgm:pt modelId="{D49B722A-D75F-44E7-B776-BAD41CD30F3D}">
      <dgm:prSet phldrT="[Text]"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CA" sz="1200" b="1" dirty="0">
              <a:latin typeface="Montserrat" panose="00000500000000000000" pitchFamily="2" charset="0"/>
            </a:rPr>
            <a:t>Force Model to Avoid Hallucination </a:t>
          </a:r>
        </a:p>
        <a:p>
          <a:pPr>
            <a:buNone/>
          </a:pPr>
          <a:r>
            <a:rPr lang="en-CA" sz="1200" dirty="0">
              <a:latin typeface="Montserrat" panose="00000500000000000000" pitchFamily="2" charset="0"/>
            </a:rPr>
            <a:t>“</a:t>
          </a:r>
          <a:r>
            <a:rPr lang="en-CA" sz="1200" i="1" dirty="0">
              <a:latin typeface="Montserrat" panose="00000500000000000000" pitchFamily="2" charset="0"/>
            </a:rPr>
            <a:t>Don’t hallucinate, ground your results in the provided data. If data is missing, say ‘not enough info’ instead of guessing</a:t>
          </a:r>
          <a:r>
            <a:rPr lang="en-CA" sz="1200" dirty="0">
              <a:latin typeface="Montserrat" panose="00000500000000000000" pitchFamily="2" charset="0"/>
            </a:rPr>
            <a:t>.”</a:t>
          </a:r>
        </a:p>
      </dgm:t>
    </dgm:pt>
    <dgm:pt modelId="{AD6B76DE-FEB8-4D99-8F2C-23A996809738}" type="parTrans" cxnId="{A68EFC81-83CC-4B78-A246-BD94857F31DD}">
      <dgm:prSet/>
      <dgm:spPr/>
      <dgm:t>
        <a:bodyPr/>
        <a:lstStyle/>
        <a:p>
          <a:endParaRPr lang="en-CA" sz="1400"/>
        </a:p>
      </dgm:t>
    </dgm:pt>
    <dgm:pt modelId="{051250BB-D059-4623-8530-0FF7916EDA37}" type="sibTrans" cxnId="{A68EFC81-83CC-4B78-A246-BD94857F31DD}">
      <dgm:prSet/>
      <dgm:spPr/>
      <dgm:t>
        <a:bodyPr/>
        <a:lstStyle/>
        <a:p>
          <a:endParaRPr lang="en-CA" sz="1400"/>
        </a:p>
      </dgm:t>
    </dgm:pt>
    <dgm:pt modelId="{359F2AF5-E699-404E-AC6A-F6650BFB7A36}" type="pres">
      <dgm:prSet presAssocID="{E9E133A9-7D45-45CD-A3DC-2774D97681C7}" presName="diagram" presStyleCnt="0">
        <dgm:presLayoutVars>
          <dgm:dir/>
          <dgm:resizeHandles val="exact"/>
        </dgm:presLayoutVars>
      </dgm:prSet>
      <dgm:spPr/>
    </dgm:pt>
    <dgm:pt modelId="{C990541E-9525-4B2C-8234-06662E7CEDC6}" type="pres">
      <dgm:prSet presAssocID="{C377708F-9617-449E-9C75-F2E30BB25EF1}" presName="node" presStyleLbl="node1" presStyleIdx="0" presStyleCnt="7">
        <dgm:presLayoutVars>
          <dgm:bulletEnabled val="1"/>
        </dgm:presLayoutVars>
      </dgm:prSet>
      <dgm:spPr/>
    </dgm:pt>
    <dgm:pt modelId="{DD84BE75-F9A2-4BF3-81E5-71C1E95A6B76}" type="pres">
      <dgm:prSet presAssocID="{78D7DD6B-9583-455E-B820-160EF9925347}" presName="sibTrans" presStyleCnt="0"/>
      <dgm:spPr/>
    </dgm:pt>
    <dgm:pt modelId="{657AFCB1-7251-4BA4-9D06-5F2257B5DE2A}" type="pres">
      <dgm:prSet presAssocID="{D49B722A-D75F-44E7-B776-BAD41CD30F3D}" presName="node" presStyleLbl="node1" presStyleIdx="1" presStyleCnt="7">
        <dgm:presLayoutVars>
          <dgm:bulletEnabled val="1"/>
        </dgm:presLayoutVars>
      </dgm:prSet>
      <dgm:spPr/>
    </dgm:pt>
    <dgm:pt modelId="{2F29E5DF-F65E-4A62-9FDF-CA43FF4931E8}" type="pres">
      <dgm:prSet presAssocID="{051250BB-D059-4623-8530-0FF7916EDA37}" presName="sibTrans" presStyleCnt="0"/>
      <dgm:spPr/>
    </dgm:pt>
    <dgm:pt modelId="{4992DE3B-5367-48F3-A222-767B0D598C85}" type="pres">
      <dgm:prSet presAssocID="{DFADFC1F-4DCE-48E0-8B20-B38798AEB70E}" presName="node" presStyleLbl="node1" presStyleIdx="2" presStyleCnt="7">
        <dgm:presLayoutVars>
          <dgm:bulletEnabled val="1"/>
        </dgm:presLayoutVars>
      </dgm:prSet>
      <dgm:spPr/>
    </dgm:pt>
    <dgm:pt modelId="{ACFE14F9-802B-44C6-BFAF-A395FE6A8896}" type="pres">
      <dgm:prSet presAssocID="{106C6D3A-33A1-4913-976A-58B57DCC7952}" presName="sibTrans" presStyleCnt="0"/>
      <dgm:spPr/>
    </dgm:pt>
    <dgm:pt modelId="{319D02D5-205D-48D9-91D0-F518019683EA}" type="pres">
      <dgm:prSet presAssocID="{B91A964C-6172-485A-86B7-4B25EADEC528}" presName="node" presStyleLbl="node1" presStyleIdx="3" presStyleCnt="7">
        <dgm:presLayoutVars>
          <dgm:bulletEnabled val="1"/>
        </dgm:presLayoutVars>
      </dgm:prSet>
      <dgm:spPr/>
    </dgm:pt>
    <dgm:pt modelId="{0885A1B5-08EE-4C66-807F-2D74C4B2870A}" type="pres">
      <dgm:prSet presAssocID="{930AD882-C193-468F-9041-E70A1E3D350F}" presName="sibTrans" presStyleCnt="0"/>
      <dgm:spPr/>
    </dgm:pt>
    <dgm:pt modelId="{70B3777D-9AB4-4C20-A928-FB7A9E2B8412}" type="pres">
      <dgm:prSet presAssocID="{E255C582-217A-4F0E-BC96-74D1C2C63503}" presName="node" presStyleLbl="node1" presStyleIdx="4" presStyleCnt="7">
        <dgm:presLayoutVars>
          <dgm:bulletEnabled val="1"/>
        </dgm:presLayoutVars>
      </dgm:prSet>
      <dgm:spPr/>
    </dgm:pt>
    <dgm:pt modelId="{61685C48-D859-48BE-9281-B243243DD422}" type="pres">
      <dgm:prSet presAssocID="{EE7A146E-B8A7-4923-A9C6-812026F41285}" presName="sibTrans" presStyleCnt="0"/>
      <dgm:spPr/>
    </dgm:pt>
    <dgm:pt modelId="{F9129A72-9A16-4BF9-8A53-1E4B13A9BCA3}" type="pres">
      <dgm:prSet presAssocID="{F70BCC85-1453-41C7-A706-BE87F4D7E851}" presName="node" presStyleLbl="node1" presStyleIdx="5" presStyleCnt="7">
        <dgm:presLayoutVars>
          <dgm:bulletEnabled val="1"/>
        </dgm:presLayoutVars>
      </dgm:prSet>
      <dgm:spPr/>
    </dgm:pt>
    <dgm:pt modelId="{4F8EE3A9-55D0-42DE-9CC2-D8C3FD878D1B}" type="pres">
      <dgm:prSet presAssocID="{C6A798C3-4EE7-4A7E-93DA-8B281CE55C74}" presName="sibTrans" presStyleCnt="0"/>
      <dgm:spPr/>
    </dgm:pt>
    <dgm:pt modelId="{6052F529-2232-4925-A816-29D992A53351}" type="pres">
      <dgm:prSet presAssocID="{1906BCDF-CF9F-4BDC-A432-9E31F12DC198}" presName="node" presStyleLbl="node1" presStyleIdx="6" presStyleCnt="7">
        <dgm:presLayoutVars>
          <dgm:bulletEnabled val="1"/>
        </dgm:presLayoutVars>
      </dgm:prSet>
      <dgm:spPr/>
    </dgm:pt>
  </dgm:ptLst>
  <dgm:cxnLst>
    <dgm:cxn modelId="{2C743A1B-2E1D-4539-89FC-002D7B269977}" type="presOf" srcId="{F70BCC85-1453-41C7-A706-BE87F4D7E851}" destId="{F9129A72-9A16-4BF9-8A53-1E4B13A9BCA3}" srcOrd="0" destOrd="0" presId="urn:microsoft.com/office/officeart/2005/8/layout/default"/>
    <dgm:cxn modelId="{8DFE8A23-4949-4D8E-8C9F-14DD6F33C9EB}" srcId="{E9E133A9-7D45-45CD-A3DC-2774D97681C7}" destId="{DFADFC1F-4DCE-48E0-8B20-B38798AEB70E}" srcOrd="2" destOrd="0" parTransId="{0E4A02D9-5C07-4C4B-81DB-BAD6CF75123C}" sibTransId="{106C6D3A-33A1-4913-976A-58B57DCC7952}"/>
    <dgm:cxn modelId="{BC23BA25-4B3F-443B-85CB-0215CCC86294}" type="presOf" srcId="{E255C582-217A-4F0E-BC96-74D1C2C63503}" destId="{70B3777D-9AB4-4C20-A928-FB7A9E2B8412}" srcOrd="0" destOrd="0" presId="urn:microsoft.com/office/officeart/2005/8/layout/default"/>
    <dgm:cxn modelId="{BD866F3E-CD9D-4B46-9597-7DDA595D9029}" srcId="{E9E133A9-7D45-45CD-A3DC-2774D97681C7}" destId="{E255C582-217A-4F0E-BC96-74D1C2C63503}" srcOrd="4" destOrd="0" parTransId="{9731069B-26F2-45D9-A531-87749F2925E9}" sibTransId="{EE7A146E-B8A7-4923-A9C6-812026F41285}"/>
    <dgm:cxn modelId="{42C02048-5B19-4FD4-8790-2E15CDAE90BA}" type="presOf" srcId="{DFADFC1F-4DCE-48E0-8B20-B38798AEB70E}" destId="{4992DE3B-5367-48F3-A222-767B0D598C85}" srcOrd="0" destOrd="0" presId="urn:microsoft.com/office/officeart/2005/8/layout/default"/>
    <dgm:cxn modelId="{19A7A578-50C6-4B6C-9D90-C6269743C64A}" type="presOf" srcId="{1906BCDF-CF9F-4BDC-A432-9E31F12DC198}" destId="{6052F529-2232-4925-A816-29D992A53351}" srcOrd="0" destOrd="0" presId="urn:microsoft.com/office/officeart/2005/8/layout/default"/>
    <dgm:cxn modelId="{BA57CB58-F18D-4AE8-AD4B-9E4278371107}" srcId="{E9E133A9-7D45-45CD-A3DC-2774D97681C7}" destId="{B91A964C-6172-485A-86B7-4B25EADEC528}" srcOrd="3" destOrd="0" parTransId="{B1295144-BA29-4E62-828C-01C9F0C06B3A}" sibTransId="{930AD882-C193-468F-9041-E70A1E3D350F}"/>
    <dgm:cxn modelId="{A68EFC81-83CC-4B78-A246-BD94857F31DD}" srcId="{E9E133A9-7D45-45CD-A3DC-2774D97681C7}" destId="{D49B722A-D75F-44E7-B776-BAD41CD30F3D}" srcOrd="1" destOrd="0" parTransId="{AD6B76DE-FEB8-4D99-8F2C-23A996809738}" sibTransId="{051250BB-D059-4623-8530-0FF7916EDA37}"/>
    <dgm:cxn modelId="{329A5C90-7F6C-4A11-949A-E0320759C099}" srcId="{E9E133A9-7D45-45CD-A3DC-2774D97681C7}" destId="{F70BCC85-1453-41C7-A706-BE87F4D7E851}" srcOrd="5" destOrd="0" parTransId="{880C7D08-56C8-4EA7-BFCA-B5F6EC6E161E}" sibTransId="{C6A798C3-4EE7-4A7E-93DA-8B281CE55C74}"/>
    <dgm:cxn modelId="{2C65C991-3D98-4821-81A0-90AA73D23A27}" type="presOf" srcId="{D49B722A-D75F-44E7-B776-BAD41CD30F3D}" destId="{657AFCB1-7251-4BA4-9D06-5F2257B5DE2A}" srcOrd="0" destOrd="0" presId="urn:microsoft.com/office/officeart/2005/8/layout/default"/>
    <dgm:cxn modelId="{EB387CBE-CA18-4740-8E93-F7BBB612CB41}" type="presOf" srcId="{C377708F-9617-449E-9C75-F2E30BB25EF1}" destId="{C990541E-9525-4B2C-8234-06662E7CEDC6}" srcOrd="0" destOrd="0" presId="urn:microsoft.com/office/officeart/2005/8/layout/default"/>
    <dgm:cxn modelId="{DC6224D7-428A-4605-BDF5-F3D49FE16A9B}" srcId="{E9E133A9-7D45-45CD-A3DC-2774D97681C7}" destId="{C377708F-9617-449E-9C75-F2E30BB25EF1}" srcOrd="0" destOrd="0" parTransId="{38C8BA5D-BC51-4631-B9B9-45C1F475B179}" sibTransId="{78D7DD6B-9583-455E-B820-160EF9925347}"/>
    <dgm:cxn modelId="{C761A5DC-6883-4BD8-AB52-86E1DB5CF425}" type="presOf" srcId="{B91A964C-6172-485A-86B7-4B25EADEC528}" destId="{319D02D5-205D-48D9-91D0-F518019683EA}" srcOrd="0" destOrd="0" presId="urn:microsoft.com/office/officeart/2005/8/layout/default"/>
    <dgm:cxn modelId="{D8C6FBF2-E556-4885-A210-1C7F67D2D872}" srcId="{E9E133A9-7D45-45CD-A3DC-2774D97681C7}" destId="{1906BCDF-CF9F-4BDC-A432-9E31F12DC198}" srcOrd="6" destOrd="0" parTransId="{AFAE71FE-4603-4EE5-80AA-E8B20FE275EE}" sibTransId="{BA686162-0039-4DE0-967F-E3B87E90010A}"/>
    <dgm:cxn modelId="{ED0109F3-CDB8-41C4-9FA7-34427C3B2956}" type="presOf" srcId="{E9E133A9-7D45-45CD-A3DC-2774D97681C7}" destId="{359F2AF5-E699-404E-AC6A-F6650BFB7A36}" srcOrd="0" destOrd="0" presId="urn:microsoft.com/office/officeart/2005/8/layout/default"/>
    <dgm:cxn modelId="{0D368FC0-26A3-43CC-8EFF-4DF1DFB80A71}" type="presParOf" srcId="{359F2AF5-E699-404E-AC6A-F6650BFB7A36}" destId="{C990541E-9525-4B2C-8234-06662E7CEDC6}" srcOrd="0" destOrd="0" presId="urn:microsoft.com/office/officeart/2005/8/layout/default"/>
    <dgm:cxn modelId="{BDD76070-5507-4FE8-A082-C46E2DED0A7D}" type="presParOf" srcId="{359F2AF5-E699-404E-AC6A-F6650BFB7A36}" destId="{DD84BE75-F9A2-4BF3-81E5-71C1E95A6B76}" srcOrd="1" destOrd="0" presId="urn:microsoft.com/office/officeart/2005/8/layout/default"/>
    <dgm:cxn modelId="{0CACE3D8-4554-49A3-A36D-697A5D955514}" type="presParOf" srcId="{359F2AF5-E699-404E-AC6A-F6650BFB7A36}" destId="{657AFCB1-7251-4BA4-9D06-5F2257B5DE2A}" srcOrd="2" destOrd="0" presId="urn:microsoft.com/office/officeart/2005/8/layout/default"/>
    <dgm:cxn modelId="{319646DF-C065-48D0-9789-C276FB797832}" type="presParOf" srcId="{359F2AF5-E699-404E-AC6A-F6650BFB7A36}" destId="{2F29E5DF-F65E-4A62-9FDF-CA43FF4931E8}" srcOrd="3" destOrd="0" presId="urn:microsoft.com/office/officeart/2005/8/layout/default"/>
    <dgm:cxn modelId="{D15B3FC6-5745-4567-B306-3F9510007D84}" type="presParOf" srcId="{359F2AF5-E699-404E-AC6A-F6650BFB7A36}" destId="{4992DE3B-5367-48F3-A222-767B0D598C85}" srcOrd="4" destOrd="0" presId="urn:microsoft.com/office/officeart/2005/8/layout/default"/>
    <dgm:cxn modelId="{F1103A5E-79D2-4B31-B698-237247AC294C}" type="presParOf" srcId="{359F2AF5-E699-404E-AC6A-F6650BFB7A36}" destId="{ACFE14F9-802B-44C6-BFAF-A395FE6A8896}" srcOrd="5" destOrd="0" presId="urn:microsoft.com/office/officeart/2005/8/layout/default"/>
    <dgm:cxn modelId="{4B1BB82F-2CD7-4F9E-9F60-55C2FA1D2986}" type="presParOf" srcId="{359F2AF5-E699-404E-AC6A-F6650BFB7A36}" destId="{319D02D5-205D-48D9-91D0-F518019683EA}" srcOrd="6" destOrd="0" presId="urn:microsoft.com/office/officeart/2005/8/layout/default"/>
    <dgm:cxn modelId="{39FA3CCD-06AD-4F03-8E1A-26C24CEFAA94}" type="presParOf" srcId="{359F2AF5-E699-404E-AC6A-F6650BFB7A36}" destId="{0885A1B5-08EE-4C66-807F-2D74C4B2870A}" srcOrd="7" destOrd="0" presId="urn:microsoft.com/office/officeart/2005/8/layout/default"/>
    <dgm:cxn modelId="{74E0E002-7C45-45F3-AF48-EFBD66451D7D}" type="presParOf" srcId="{359F2AF5-E699-404E-AC6A-F6650BFB7A36}" destId="{70B3777D-9AB4-4C20-A928-FB7A9E2B8412}" srcOrd="8" destOrd="0" presId="urn:microsoft.com/office/officeart/2005/8/layout/default"/>
    <dgm:cxn modelId="{A477B477-6F8D-499E-852A-07D24F7445CB}" type="presParOf" srcId="{359F2AF5-E699-404E-AC6A-F6650BFB7A36}" destId="{61685C48-D859-48BE-9281-B243243DD422}" srcOrd="9" destOrd="0" presId="urn:microsoft.com/office/officeart/2005/8/layout/default"/>
    <dgm:cxn modelId="{2CE5CB43-74E4-40E0-B134-34C7FE4B2FE6}" type="presParOf" srcId="{359F2AF5-E699-404E-AC6A-F6650BFB7A36}" destId="{F9129A72-9A16-4BF9-8A53-1E4B13A9BCA3}" srcOrd="10" destOrd="0" presId="urn:microsoft.com/office/officeart/2005/8/layout/default"/>
    <dgm:cxn modelId="{367FA12B-82AB-4850-B544-0552964F7D0A}" type="presParOf" srcId="{359F2AF5-E699-404E-AC6A-F6650BFB7A36}" destId="{4F8EE3A9-55D0-42DE-9CC2-D8C3FD878D1B}" srcOrd="11" destOrd="0" presId="urn:microsoft.com/office/officeart/2005/8/layout/default"/>
    <dgm:cxn modelId="{E9276B71-ED6E-41DF-914D-A7A60A77A852}" type="presParOf" srcId="{359F2AF5-E699-404E-AC6A-F6650BFB7A36}" destId="{6052F529-2232-4925-A816-29D992A53351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0541E-9525-4B2C-8234-06662E7CEDC6}">
      <dsp:nvSpPr>
        <dsp:cNvPr id="0" name=""/>
        <dsp:cNvSpPr/>
      </dsp:nvSpPr>
      <dsp:spPr>
        <a:xfrm>
          <a:off x="3539" y="977395"/>
          <a:ext cx="2807865" cy="1684719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Guide behaviour with System Prompt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i="1" kern="1200" dirty="0">
              <a:latin typeface="Montserrat" panose="00000500000000000000" pitchFamily="2" charset="0"/>
            </a:rPr>
            <a:t>Set the persona, rules, constraints and output format</a:t>
          </a:r>
        </a:p>
      </dsp:txBody>
      <dsp:txXfrm>
        <a:off x="3539" y="977395"/>
        <a:ext cx="2807865" cy="1684719"/>
      </dsp:txXfrm>
    </dsp:sp>
    <dsp:sp modelId="{657AFCB1-7251-4BA4-9D06-5F2257B5DE2A}">
      <dsp:nvSpPr>
        <dsp:cNvPr id="0" name=""/>
        <dsp:cNvSpPr/>
      </dsp:nvSpPr>
      <dsp:spPr>
        <a:xfrm>
          <a:off x="3092191" y="977395"/>
          <a:ext cx="2807865" cy="1684719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Force Model to Avoid Hallucination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 dirty="0">
              <a:latin typeface="Montserrat" panose="00000500000000000000" pitchFamily="2" charset="0"/>
            </a:rPr>
            <a:t>“</a:t>
          </a:r>
          <a:r>
            <a:rPr lang="en-CA" sz="1200" i="1" kern="1200" dirty="0">
              <a:latin typeface="Montserrat" panose="00000500000000000000" pitchFamily="2" charset="0"/>
            </a:rPr>
            <a:t>Don’t hallucinate, ground your results in the provided data. If data is missing, say ‘not enough info’ instead of guessing</a:t>
          </a:r>
          <a:r>
            <a:rPr lang="en-CA" sz="1200" kern="1200" dirty="0">
              <a:latin typeface="Montserrat" panose="00000500000000000000" pitchFamily="2" charset="0"/>
            </a:rPr>
            <a:t>.”</a:t>
          </a:r>
        </a:p>
      </dsp:txBody>
      <dsp:txXfrm>
        <a:off x="3092191" y="977395"/>
        <a:ext cx="2807865" cy="1684719"/>
      </dsp:txXfrm>
    </dsp:sp>
    <dsp:sp modelId="{4992DE3B-5367-48F3-A222-767B0D598C85}">
      <dsp:nvSpPr>
        <dsp:cNvPr id="0" name=""/>
        <dsp:cNvSpPr/>
      </dsp:nvSpPr>
      <dsp:spPr>
        <a:xfrm>
          <a:off x="6180844" y="977395"/>
          <a:ext cx="2807865" cy="1684719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Ask for reasoning (Chain of thought):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i="1" kern="1200" dirty="0">
              <a:latin typeface="Montserrat" panose="00000500000000000000" pitchFamily="2" charset="0"/>
            </a:rPr>
            <a:t>“explain your steps” or “show the calculation before the result” to build trust and transparency.</a:t>
          </a:r>
          <a:endParaRPr lang="en-CA" sz="1200" b="1" i="1" kern="1200" dirty="0">
            <a:latin typeface="Montserrat" panose="00000500000000000000" pitchFamily="2" charset="0"/>
          </a:endParaRPr>
        </a:p>
      </dsp:txBody>
      <dsp:txXfrm>
        <a:off x="6180844" y="977395"/>
        <a:ext cx="2807865" cy="1684719"/>
      </dsp:txXfrm>
    </dsp:sp>
    <dsp:sp modelId="{319D02D5-205D-48D9-91D0-F518019683EA}">
      <dsp:nvSpPr>
        <dsp:cNvPr id="0" name=""/>
        <dsp:cNvSpPr/>
      </dsp:nvSpPr>
      <dsp:spPr>
        <a:xfrm>
          <a:off x="9269496" y="977395"/>
          <a:ext cx="2807865" cy="1684719"/>
        </a:xfrm>
        <a:prstGeom prst="rect">
          <a:avLst/>
        </a:prstGeom>
        <a:solidFill>
          <a:srgbClr val="1BBFD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Add constraints &amp; boundaries: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i="1" kern="1200" dirty="0">
              <a:latin typeface="Montserrat" panose="00000500000000000000" pitchFamily="2" charset="0"/>
            </a:rPr>
            <a:t>Word limits, style guides, or examples help the model aim correctly. “Explain in 3 bullet points, max 15 words each.”</a:t>
          </a:r>
        </a:p>
      </dsp:txBody>
      <dsp:txXfrm>
        <a:off x="9269496" y="977395"/>
        <a:ext cx="2807865" cy="1684719"/>
      </dsp:txXfrm>
    </dsp:sp>
    <dsp:sp modelId="{70B3777D-9AB4-4C20-A928-FB7A9E2B8412}">
      <dsp:nvSpPr>
        <dsp:cNvPr id="0" name=""/>
        <dsp:cNvSpPr/>
      </dsp:nvSpPr>
      <dsp:spPr>
        <a:xfrm>
          <a:off x="1547865" y="2942901"/>
          <a:ext cx="2807865" cy="1684719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Iterate and refine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i="1" kern="1200" dirty="0">
              <a:latin typeface="Montserrat" panose="00000500000000000000" pitchFamily="2" charset="0"/>
            </a:rPr>
            <a:t>The first draft is rarely the final. Treat prompts like a conversation; tweak wording, add detail, narrow scope until the output clicks.</a:t>
          </a:r>
        </a:p>
      </dsp:txBody>
      <dsp:txXfrm>
        <a:off x="1547865" y="2942901"/>
        <a:ext cx="2807865" cy="1684719"/>
      </dsp:txXfrm>
    </dsp:sp>
    <dsp:sp modelId="{F9129A72-9A16-4BF9-8A53-1E4B13A9BCA3}">
      <dsp:nvSpPr>
        <dsp:cNvPr id="0" name=""/>
        <dsp:cNvSpPr/>
      </dsp:nvSpPr>
      <dsp:spPr>
        <a:xfrm>
          <a:off x="4636518" y="2942901"/>
          <a:ext cx="2807865" cy="1684719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latin typeface="Montserrat" panose="00000500000000000000" pitchFamily="2" charset="0"/>
            </a:rPr>
            <a:t>Anchor with examples (Few Shot Prompting):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i="1" kern="1200" dirty="0">
              <a:latin typeface="Montserrat" panose="00000500000000000000" pitchFamily="2" charset="0"/>
            </a:rPr>
            <a:t>Show the AI what “good” looks like. A sample answer, tone, or structure is worth paragraphs of instructions.</a:t>
          </a:r>
        </a:p>
      </dsp:txBody>
      <dsp:txXfrm>
        <a:off x="4636518" y="2942901"/>
        <a:ext cx="2807865" cy="1684719"/>
      </dsp:txXfrm>
    </dsp:sp>
    <dsp:sp modelId="{6052F529-2232-4925-A816-29D992A53351}">
      <dsp:nvSpPr>
        <dsp:cNvPr id="0" name=""/>
        <dsp:cNvSpPr/>
      </dsp:nvSpPr>
      <dsp:spPr>
        <a:xfrm>
          <a:off x="7725170" y="2942901"/>
          <a:ext cx="2807865" cy="1684719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b="1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Structured Output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Request JSON, XML, or specific formats</a:t>
          </a:r>
          <a:endParaRPr lang="en-CA" sz="1200" i="1" kern="1200" dirty="0">
            <a:solidFill>
              <a:prstClr val="white"/>
            </a:solidFill>
            <a:latin typeface="Montserrat" panose="00000500000000000000" pitchFamily="2" charset="0"/>
            <a:ea typeface="+mn-ea"/>
            <a:cs typeface="+mn-cs"/>
          </a:endParaRPr>
        </a:p>
      </dsp:txBody>
      <dsp:txXfrm>
        <a:off x="7725170" y="2942901"/>
        <a:ext cx="2807865" cy="16847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4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293915" y="489004"/>
            <a:ext cx="47434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CODEX MASTERCLASS</a:t>
            </a:r>
            <a:endParaRPr lang="en-US" sz="24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60D1A-8343-AE39-1C7E-EB456051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93B865-5280-52F8-A7E5-87FF21D1B6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86A26-F672-CFE8-4EBB-1EF96160F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61F49B-3EBA-2426-8DB8-4448657D3F61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INTRO TO CODEX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140DA-6AA1-A14D-0F75-696D7BF4D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18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BBBD5-9C50-D13A-79D8-1200ECDB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B4034E-B80B-6CAD-73E8-D28C92638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D31D04-4AAE-6704-5C5B-66240354B1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7B7B7CC-E995-1466-0351-0D8EC3025B5C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Into to Codex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5A83E-0088-E2AC-4C5D-4F26FF8BBCA3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0EF21507-A644-8F43-E346-029BED75C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C377B52-C9B7-78D8-18CC-8FFF416A89B3}"/>
              </a:ext>
            </a:extLst>
          </p:cNvPr>
          <p:cNvSpPr/>
          <p:nvPr/>
        </p:nvSpPr>
        <p:spPr>
          <a:xfrm>
            <a:off x="112340" y="595005"/>
            <a:ext cx="11333334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67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Codex is a coding agent by OpenAI that helps you build and ship with AI. 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67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It writes features, fixes bugs, and answers codebase questions, all running in parallel sandbox environments.</a:t>
            </a:r>
            <a:endParaRPr lang="en-US" sz="1867" dirty="0">
              <a:latin typeface="Montserrat" panose="00000500000000000000" pitchFamily="2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9EB69FC-55F2-C11C-A770-62AA8DF09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227" y="2504950"/>
            <a:ext cx="5238828" cy="319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6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7FC5-FC4E-EDCB-6DD1-2EA168185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892E49-BAC1-3E06-7AE9-F45B72503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C9C9BD-0E9E-7660-0E12-690BC6EB0B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B5B7900-B488-347C-E8F6-5AD3939A6FBB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Codex general capabilities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495F31-778B-3015-7F3E-F032BEF0F65F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0CEDAEFC-C9C3-30CF-6EAE-76F16CC7654C}"/>
              </a:ext>
            </a:extLst>
          </p:cNvPr>
          <p:cNvSpPr/>
          <p:nvPr/>
        </p:nvSpPr>
        <p:spPr>
          <a:xfrm>
            <a:off x="1228003" y="1097280"/>
            <a:ext cx="2858222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1514331E-2608-88D5-F21D-DBB99FF94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603" y="1280160"/>
            <a:ext cx="411480" cy="411480"/>
          </a:xfrm>
          <a:prstGeom prst="rect">
            <a:avLst/>
          </a:prstGeom>
        </p:spPr>
      </p:pic>
      <p:sp>
        <p:nvSpPr>
          <p:cNvPr id="31" name="Text 4">
            <a:extLst>
              <a:ext uri="{FF2B5EF4-FFF2-40B4-BE49-F238E27FC236}">
                <a16:creationId xmlns:a16="http://schemas.microsoft.com/office/drawing/2014/main" id="{6F54096C-438E-66D0-E07D-63A85AF85039}"/>
              </a:ext>
            </a:extLst>
          </p:cNvPr>
          <p:cNvSpPr/>
          <p:nvPr/>
        </p:nvSpPr>
        <p:spPr>
          <a:xfrm>
            <a:off x="1410882" y="1841754"/>
            <a:ext cx="23941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Document Creation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5AD8EA70-9C59-48AD-2C9D-65BFA31F626F}"/>
              </a:ext>
            </a:extLst>
          </p:cNvPr>
          <p:cNvSpPr/>
          <p:nvPr/>
        </p:nvSpPr>
        <p:spPr>
          <a:xfrm>
            <a:off x="1410883" y="2286000"/>
            <a:ext cx="26018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Word docs, spreadsheets, presentations, PDFs with professional formatting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40F69CDA-8931-CC45-5504-5465D0ADE545}"/>
              </a:ext>
            </a:extLst>
          </p:cNvPr>
          <p:cNvSpPr/>
          <p:nvPr/>
        </p:nvSpPr>
        <p:spPr>
          <a:xfrm>
            <a:off x="4666123" y="1097280"/>
            <a:ext cx="3192778" cy="191109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34535DB0-4294-ACBB-6209-32EC22F0F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4724" y="1280160"/>
            <a:ext cx="411480" cy="411480"/>
          </a:xfrm>
          <a:prstGeom prst="rect">
            <a:avLst/>
          </a:prstGeom>
        </p:spPr>
      </p:pic>
      <p:sp>
        <p:nvSpPr>
          <p:cNvPr id="38" name="Text 8">
            <a:extLst>
              <a:ext uri="{FF2B5EF4-FFF2-40B4-BE49-F238E27FC236}">
                <a16:creationId xmlns:a16="http://schemas.microsoft.com/office/drawing/2014/main" id="{8E3E6E86-0A29-16C1-21C0-6847705CBDAE}"/>
              </a:ext>
            </a:extLst>
          </p:cNvPr>
          <p:cNvSpPr/>
          <p:nvPr/>
        </p:nvSpPr>
        <p:spPr>
          <a:xfrm>
            <a:off x="4849004" y="17556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Data Analysis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2784D1F1-5A38-7728-70CF-D9F5009A0AE3}"/>
              </a:ext>
            </a:extLst>
          </p:cNvPr>
          <p:cNvSpPr/>
          <p:nvPr/>
        </p:nvSpPr>
        <p:spPr>
          <a:xfrm>
            <a:off x="4819199" y="2231136"/>
            <a:ext cx="30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Statistical analysis, visualization, data cleaning &amp; transformation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59A00049-2B98-DEEC-83AC-BC2D3DF2BD74}"/>
              </a:ext>
            </a:extLst>
          </p:cNvPr>
          <p:cNvSpPr/>
          <p:nvPr/>
        </p:nvSpPr>
        <p:spPr>
          <a:xfrm>
            <a:off x="8385403" y="1097280"/>
            <a:ext cx="2984098" cy="1892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56F23686-A9D4-1D48-6313-F1AC13667F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4003" y="1280160"/>
            <a:ext cx="411480" cy="411480"/>
          </a:xfrm>
          <a:prstGeom prst="rect">
            <a:avLst/>
          </a:prstGeom>
        </p:spPr>
      </p:pic>
      <p:sp>
        <p:nvSpPr>
          <p:cNvPr id="43" name="Text 12">
            <a:extLst>
              <a:ext uri="{FF2B5EF4-FFF2-40B4-BE49-F238E27FC236}">
                <a16:creationId xmlns:a16="http://schemas.microsoft.com/office/drawing/2014/main" id="{EB839148-BDA2-8756-3EF1-5F0E17F31F4D}"/>
              </a:ext>
            </a:extLst>
          </p:cNvPr>
          <p:cNvSpPr/>
          <p:nvPr/>
        </p:nvSpPr>
        <p:spPr>
          <a:xfrm>
            <a:off x="8568283" y="1755648"/>
            <a:ext cx="2604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Research &amp; Synthesis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D8EB72F9-C1BE-3F35-48DC-3D6E30D5E0AF}"/>
              </a:ext>
            </a:extLst>
          </p:cNvPr>
          <p:cNvSpPr/>
          <p:nvPr/>
        </p:nvSpPr>
        <p:spPr>
          <a:xfrm>
            <a:off x="8530183" y="2238375"/>
            <a:ext cx="26807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Web research, transcript analysis, multi-source information gathering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194E4C47-35F6-DACA-A998-ED8B2C1444AA}"/>
              </a:ext>
            </a:extLst>
          </p:cNvPr>
          <p:cNvSpPr/>
          <p:nvPr/>
        </p:nvSpPr>
        <p:spPr>
          <a:xfrm>
            <a:off x="1288371" y="3493008"/>
            <a:ext cx="2797853" cy="175564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pic>
        <p:nvPicPr>
          <p:cNvPr id="47" name="Image 3" descr="preencoded.png">
            <a:extLst>
              <a:ext uri="{FF2B5EF4-FFF2-40B4-BE49-F238E27FC236}">
                <a16:creationId xmlns:a16="http://schemas.microsoft.com/office/drawing/2014/main" id="{883EA0A2-8F42-0C92-A7FF-21B074F419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6972" y="3675888"/>
            <a:ext cx="411480" cy="411480"/>
          </a:xfrm>
          <a:prstGeom prst="rect">
            <a:avLst/>
          </a:prstGeom>
        </p:spPr>
      </p:pic>
      <p:sp>
        <p:nvSpPr>
          <p:cNvPr id="48" name="Text 16">
            <a:extLst>
              <a:ext uri="{FF2B5EF4-FFF2-40B4-BE49-F238E27FC236}">
                <a16:creationId xmlns:a16="http://schemas.microsoft.com/office/drawing/2014/main" id="{6EA723A8-E65D-BD50-D87F-2A7804E21DA7}"/>
              </a:ext>
            </a:extLst>
          </p:cNvPr>
          <p:cNvSpPr/>
          <p:nvPr/>
        </p:nvSpPr>
        <p:spPr>
          <a:xfrm>
            <a:off x="1471252" y="415137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File Management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6E1299D6-8129-6AA4-386B-3D83AB5B1BBB}"/>
              </a:ext>
            </a:extLst>
          </p:cNvPr>
          <p:cNvSpPr/>
          <p:nvPr/>
        </p:nvSpPr>
        <p:spPr>
          <a:xfrm>
            <a:off x="1471251" y="4547235"/>
            <a:ext cx="2588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Organize folders, batch rename, process receipts, sort files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5757AD12-29A2-AA27-75FC-25883DE4EF70}"/>
              </a:ext>
            </a:extLst>
          </p:cNvPr>
          <p:cNvSpPr/>
          <p:nvPr/>
        </p:nvSpPr>
        <p:spPr>
          <a:xfrm>
            <a:off x="4712101" y="3466337"/>
            <a:ext cx="3121978" cy="175564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pic>
        <p:nvPicPr>
          <p:cNvPr id="52" name="Image 4" descr="preencoded.png">
            <a:extLst>
              <a:ext uri="{FF2B5EF4-FFF2-40B4-BE49-F238E27FC236}">
                <a16:creationId xmlns:a16="http://schemas.microsoft.com/office/drawing/2014/main" id="{4B11744E-BDC4-E5BE-DD32-A9AC705E89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0701" y="3649218"/>
            <a:ext cx="411480" cy="411480"/>
          </a:xfrm>
          <a:prstGeom prst="rect">
            <a:avLst/>
          </a:prstGeom>
        </p:spPr>
      </p:pic>
      <p:sp>
        <p:nvSpPr>
          <p:cNvPr id="53" name="Text 20">
            <a:extLst>
              <a:ext uri="{FF2B5EF4-FFF2-40B4-BE49-F238E27FC236}">
                <a16:creationId xmlns:a16="http://schemas.microsoft.com/office/drawing/2014/main" id="{FC5D41C3-261E-BFDC-994A-91CD29008306}"/>
              </a:ext>
            </a:extLst>
          </p:cNvPr>
          <p:cNvSpPr/>
          <p:nvPr/>
        </p:nvSpPr>
        <p:spPr>
          <a:xfrm>
            <a:off x="4894980" y="4124706"/>
            <a:ext cx="25916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Code &amp; Automation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B2DA2BFA-EF2F-2D82-8CDA-E5C339C58CEC}"/>
              </a:ext>
            </a:extLst>
          </p:cNvPr>
          <p:cNvSpPr/>
          <p:nvPr/>
        </p:nvSpPr>
        <p:spPr>
          <a:xfrm>
            <a:off x="4894981" y="4426458"/>
            <a:ext cx="27804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Write scripts, build tools, automate repetitive workflows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EFB2707B-620A-4F1C-AE14-B97AE4C9F796}"/>
              </a:ext>
            </a:extLst>
          </p:cNvPr>
          <p:cNvSpPr/>
          <p:nvPr/>
        </p:nvSpPr>
        <p:spPr>
          <a:xfrm>
            <a:off x="8369700" y="3429000"/>
            <a:ext cx="3121978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7" name="Image 5" descr="preencoded.png">
            <a:extLst>
              <a:ext uri="{FF2B5EF4-FFF2-40B4-BE49-F238E27FC236}">
                <a16:creationId xmlns:a16="http://schemas.microsoft.com/office/drawing/2014/main" id="{179BD3B9-33F8-DDA1-3BF1-40494F2531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8301" y="3611880"/>
            <a:ext cx="411480" cy="411480"/>
          </a:xfrm>
          <a:prstGeom prst="rect">
            <a:avLst/>
          </a:prstGeom>
        </p:spPr>
      </p:pic>
      <p:sp>
        <p:nvSpPr>
          <p:cNvPr id="58" name="Text 24">
            <a:extLst>
              <a:ext uri="{FF2B5EF4-FFF2-40B4-BE49-F238E27FC236}">
                <a16:creationId xmlns:a16="http://schemas.microsoft.com/office/drawing/2014/main" id="{726D737D-8487-49E0-28B4-5BD5E3D740A5}"/>
              </a:ext>
            </a:extLst>
          </p:cNvPr>
          <p:cNvSpPr/>
          <p:nvPr/>
        </p:nvSpPr>
        <p:spPr>
          <a:xfrm>
            <a:off x="8552581" y="4087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Scheduled Tasks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EA54B3F3-1A5F-339F-A7F6-80C3427D2650}"/>
              </a:ext>
            </a:extLst>
          </p:cNvPr>
          <p:cNvSpPr/>
          <p:nvPr/>
        </p:nvSpPr>
        <p:spPr>
          <a:xfrm>
            <a:off x="8552580" y="4389120"/>
            <a:ext cx="29645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Create recurring automated tasks that run on a set schedule</a:t>
            </a:r>
            <a:endParaRPr lang="en-US" sz="1400" dirty="0">
              <a:latin typeface="Montserrat" panose="00000500000000000000" pitchFamily="2" charset="0"/>
            </a:endParaRPr>
          </a:p>
        </p:txBody>
      </p:sp>
      <p:pic>
        <p:nvPicPr>
          <p:cNvPr id="61" name="Image 6" descr="preencoded.png">
            <a:extLst>
              <a:ext uri="{FF2B5EF4-FFF2-40B4-BE49-F238E27FC236}">
                <a16:creationId xmlns:a16="http://schemas.microsoft.com/office/drawing/2014/main" id="{F6953E5E-348D-D8E5-6AE4-7AA0321703E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10882" y="5565267"/>
            <a:ext cx="619125" cy="619125"/>
          </a:xfrm>
          <a:prstGeom prst="rect">
            <a:avLst/>
          </a:prstGeom>
        </p:spPr>
      </p:pic>
      <p:sp>
        <p:nvSpPr>
          <p:cNvPr id="62" name="Text 27">
            <a:extLst>
              <a:ext uri="{FF2B5EF4-FFF2-40B4-BE49-F238E27FC236}">
                <a16:creationId xmlns:a16="http://schemas.microsoft.com/office/drawing/2014/main" id="{83C59AFC-AC81-461A-C566-E75363180D1F}"/>
              </a:ext>
            </a:extLst>
          </p:cNvPr>
          <p:cNvSpPr/>
          <p:nvPr/>
        </p:nvSpPr>
        <p:spPr>
          <a:xfrm>
            <a:off x="2103119" y="5650992"/>
            <a:ext cx="84220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Codex uses more tokens than standard chat; think of it as OpenAI models (GPT) doing deep work, not quick answers.</a:t>
            </a:r>
            <a:endParaRPr lang="en-US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44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1" grpId="0" animBg="1"/>
      <p:bldP spid="33" grpId="0" animBg="1"/>
      <p:bldP spid="35" grpId="0" animBg="1"/>
      <p:bldP spid="38" grpId="0" animBg="1"/>
      <p:bldP spid="39" grpId="0" animBg="1"/>
      <p:bldP spid="40" grpId="0" animBg="1"/>
      <p:bldP spid="43" grpId="0" animBg="1"/>
      <p:bldP spid="44" grpId="0" animBg="1"/>
      <p:bldP spid="45" grpId="0" animBg="1"/>
      <p:bldP spid="48" grpId="0" animBg="1"/>
      <p:bldP spid="49" grpId="0" animBg="1"/>
      <p:bldP spid="50" grpId="0" animBg="1"/>
      <p:bldP spid="53" grpId="0" animBg="1"/>
      <p:bldP spid="54" grpId="0" animBg="1"/>
      <p:bldP spid="55" grpId="0" animBg="1"/>
      <p:bldP spid="58" grpId="0" animBg="1"/>
      <p:bldP spid="59" grpId="0" animBg="1"/>
      <p:bldP spid="6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D7243-E7C6-4617-0C29-DFC176A4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FC6163-9D29-9998-4C27-68F9B8E26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DEA395-A791-7A3D-1844-EFF8C3E346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CA05EAFB-98C2-6C7B-BA6B-8F6ADD5EED97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Core Codex Coding Capabilities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6C1FF3-1199-FBF2-D825-8D1E1F878708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25A571E4-8C3F-BB9A-A3B1-EA16E2E00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81990" y="1181417"/>
            <a:ext cx="3413760" cy="207264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chemeClr val="bg1"/>
              </a:solidFill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90" y="1547177"/>
            <a:ext cx="487680" cy="487680"/>
          </a:xfrm>
          <a:prstGeom prst="rect">
            <a:avLst/>
          </a:prstGeom>
        </p:spPr>
      </p:pic>
      <p:sp>
        <p:nvSpPr>
          <p:cNvPr id="3" name="Text 4"/>
          <p:cNvSpPr/>
          <p:nvPr/>
        </p:nvSpPr>
        <p:spPr>
          <a:xfrm>
            <a:off x="986790" y="2095817"/>
            <a:ext cx="2804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Features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15" name="Text 5"/>
          <p:cNvSpPr/>
          <p:nvPr/>
        </p:nvSpPr>
        <p:spPr>
          <a:xfrm>
            <a:off x="986790" y="2522537"/>
            <a:ext cx="280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features from natural language prompts</a:t>
            </a:r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24" name="Shape 6"/>
          <p:cNvSpPr/>
          <p:nvPr/>
        </p:nvSpPr>
        <p:spPr>
          <a:xfrm>
            <a:off x="4461510" y="1181417"/>
            <a:ext cx="3413760" cy="2072640"/>
          </a:xfrm>
          <a:prstGeom prst="rect">
            <a:avLst/>
          </a:prstGeom>
          <a:solidFill>
            <a:srgbClr val="D56E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chemeClr val="bg1"/>
              </a:solidFill>
            </a:endParaRPr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10" y="1547177"/>
            <a:ext cx="487680" cy="48768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4766310" y="2095817"/>
            <a:ext cx="2804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Bugs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28" name="Text 9"/>
          <p:cNvSpPr/>
          <p:nvPr/>
        </p:nvSpPr>
        <p:spPr>
          <a:xfrm>
            <a:off x="4766310" y="2522537"/>
            <a:ext cx="280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resolve issues across the codebase</a:t>
            </a:r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33" name="Shape 14"/>
          <p:cNvSpPr/>
          <p:nvPr/>
        </p:nvSpPr>
        <p:spPr>
          <a:xfrm>
            <a:off x="8241030" y="1165543"/>
            <a:ext cx="3413760" cy="2072640"/>
          </a:xfrm>
          <a:prstGeom prst="rect">
            <a:avLst/>
          </a:prstGeom>
          <a:solidFill>
            <a:schemeClr val="bg1">
              <a:lumMod val="6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chemeClr val="bg1"/>
              </a:solidFill>
            </a:endParaRPr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830" y="1531303"/>
            <a:ext cx="487680" cy="487680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8545830" y="2079943"/>
            <a:ext cx="2804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36" name="Text 17"/>
          <p:cNvSpPr/>
          <p:nvPr/>
        </p:nvSpPr>
        <p:spPr>
          <a:xfrm>
            <a:off x="8545830" y="2506663"/>
            <a:ext cx="280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and explain complex codebases</a:t>
            </a:r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37" name="Shape 18"/>
          <p:cNvSpPr/>
          <p:nvPr/>
        </p:nvSpPr>
        <p:spPr>
          <a:xfrm>
            <a:off x="2480310" y="3835449"/>
            <a:ext cx="3413760" cy="2072640"/>
          </a:xfrm>
          <a:prstGeom prst="rect">
            <a:avLst/>
          </a:prstGeom>
          <a:solidFill>
            <a:srgbClr val="1BBFD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chemeClr val="bg1"/>
              </a:solidFill>
            </a:endParaRPr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5110" y="4201209"/>
            <a:ext cx="487680" cy="487680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2785110" y="4749849"/>
            <a:ext cx="2804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40" name="Text 21"/>
          <p:cNvSpPr/>
          <p:nvPr/>
        </p:nvSpPr>
        <p:spPr>
          <a:xfrm>
            <a:off x="2785110" y="5176569"/>
            <a:ext cx="280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execute tests, suggest edge cases</a:t>
            </a:r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41" name="Shape 22"/>
          <p:cNvSpPr/>
          <p:nvPr/>
        </p:nvSpPr>
        <p:spPr>
          <a:xfrm>
            <a:off x="6259830" y="3835449"/>
            <a:ext cx="3413760" cy="207264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>
              <a:solidFill>
                <a:schemeClr val="bg1"/>
              </a:solidFill>
            </a:endParaRPr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4630" y="4201209"/>
            <a:ext cx="487680" cy="487680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6564630" y="4749849"/>
            <a:ext cx="28041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Code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44" name="Text 25"/>
          <p:cNvSpPr/>
          <p:nvPr/>
        </p:nvSpPr>
        <p:spPr>
          <a:xfrm>
            <a:off x="6564630" y="5176569"/>
            <a:ext cx="280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structure, performance, and readability</a:t>
            </a:r>
            <a:endParaRPr lang="en-US" sz="14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60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15" grpId="0" animBg="1"/>
      <p:bldP spid="24" grpId="0" animBg="1"/>
      <p:bldP spid="27" grpId="0" animBg="1"/>
      <p:bldP spid="28" grpId="0" animBg="1"/>
      <p:bldP spid="33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3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8214E-E863-4B40-42E1-E1C08ED7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23AD26-40C0-E7B3-B3E6-C12ACB863F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3CB7CD-54EB-6DB8-06A5-C0C48E2FF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B44DC2-CC78-B720-40AD-E64FA48A2111}"/>
              </a:ext>
            </a:extLst>
          </p:cNvPr>
          <p:cNvSpPr/>
          <p:nvPr/>
        </p:nvSpPr>
        <p:spPr>
          <a:xfrm>
            <a:off x="293914" y="793804"/>
            <a:ext cx="62288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CREATE BRANDED BUSINESS FLYERS WITH CODEX</a:t>
            </a:r>
            <a:endParaRPr lang="en-US" sz="28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8F5D9-9D76-5D43-F860-B6F7F2787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1976-2AE7-4EF7-1560-C61D0DF2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D5BA7-FB07-7089-F20D-24BB35AAE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664485-532C-5083-5A25-F8BB6A038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71C1B3F-A8C9-9CB8-73B0-ED05DBBB3FA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Overview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21F32ED-32F2-3596-8751-FFA0888A1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78" y="846254"/>
            <a:ext cx="8655322" cy="522897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Montserrat" panose="00000500000000000000" pitchFamily="2" charset="0"/>
              </a:rPr>
              <a:t>Bloom and Butter is a small-batch bakery and flower bar in Portland, Oregon. Founded by Maya Chen. Known for seasonal pastries, naturally leavened sourdough, and small floral arrangements you can grab with your morning coffee.</a:t>
            </a:r>
            <a:endParaRPr lang="en-US" sz="1200" dirty="0">
              <a:latin typeface="Montserrat" panose="00000500000000000000" pitchFamily="2" charset="0"/>
            </a:endParaRPr>
          </a:p>
          <a:p>
            <a:r>
              <a:rPr lang="en-US" sz="1800" b="1" dirty="0">
                <a:latin typeface="Montserrat" panose="00000500000000000000" pitchFamily="2" charset="0"/>
              </a:rPr>
              <a:t>Brand Voice:</a:t>
            </a:r>
            <a:r>
              <a:rPr lang="en-US" sz="1800" dirty="0">
                <a:latin typeface="Montserrat" panose="00000500000000000000" pitchFamily="2" charset="0"/>
              </a:rPr>
              <a:t> Warm, unhurried, slightly playful but never cutesy. No corporate food language, no ALL CAPS, no emoji.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35601-1B01-6301-4C7A-EC04531AF16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9CD143BC-A504-F9D4-A0D8-526968758342}"/>
              </a:ext>
            </a:extLst>
          </p:cNvPr>
          <p:cNvSpPr/>
          <p:nvPr/>
        </p:nvSpPr>
        <p:spPr>
          <a:xfrm>
            <a:off x="1088643" y="3378646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AF3E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939D043-8E67-718C-0B25-234A34FC41D6}"/>
              </a:ext>
            </a:extLst>
          </p:cNvPr>
          <p:cNvSpPr/>
          <p:nvPr/>
        </p:nvSpPr>
        <p:spPr>
          <a:xfrm>
            <a:off x="1088643" y="429304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6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Warm Cream</a:t>
            </a:r>
            <a:endParaRPr lang="en-US" sz="10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41C8D93-E62D-BC0E-9878-5A42AE8D8D47}"/>
              </a:ext>
            </a:extLst>
          </p:cNvPr>
          <p:cNvSpPr/>
          <p:nvPr/>
        </p:nvSpPr>
        <p:spPr>
          <a:xfrm>
            <a:off x="1088643" y="452164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#FAF3E8</a:t>
            </a:r>
            <a:endParaRPr lang="en-US" sz="9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89C9DAF4-0104-0801-62D7-82911BD37F50}"/>
              </a:ext>
            </a:extLst>
          </p:cNvPr>
          <p:cNvSpPr/>
          <p:nvPr/>
        </p:nvSpPr>
        <p:spPr>
          <a:xfrm>
            <a:off x="2643123" y="3378646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C4836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9182534-490B-35E1-725C-889801D80866}"/>
              </a:ext>
            </a:extLst>
          </p:cNvPr>
          <p:cNvSpPr/>
          <p:nvPr/>
        </p:nvSpPr>
        <p:spPr>
          <a:xfrm>
            <a:off x="2643123" y="429304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6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 Terracotta</a:t>
            </a:r>
            <a:endParaRPr lang="en-US" sz="1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8B798B6-7656-2B2E-B38C-F2FF5D7130BD}"/>
              </a:ext>
            </a:extLst>
          </p:cNvPr>
          <p:cNvSpPr/>
          <p:nvPr/>
        </p:nvSpPr>
        <p:spPr>
          <a:xfrm>
            <a:off x="2643123" y="452164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#C4836A</a:t>
            </a:r>
            <a:endParaRPr lang="en-US" sz="9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04EA6C2F-EDE0-FB40-2EBB-2E57D036913F}"/>
              </a:ext>
            </a:extLst>
          </p:cNvPr>
          <p:cNvSpPr/>
          <p:nvPr/>
        </p:nvSpPr>
        <p:spPr>
          <a:xfrm>
            <a:off x="4197603" y="3378646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8B9E7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92CB25B-9C35-F36F-AB26-1EAA52872B4F}"/>
              </a:ext>
            </a:extLst>
          </p:cNvPr>
          <p:cNvSpPr/>
          <p:nvPr/>
        </p:nvSpPr>
        <p:spPr>
          <a:xfrm>
            <a:off x="4197603" y="429304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6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Sage Green</a:t>
            </a:r>
            <a:endParaRPr lang="en-US" sz="10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97EE138-37FD-83FA-1F17-627514CF9470}"/>
              </a:ext>
            </a:extLst>
          </p:cNvPr>
          <p:cNvSpPr/>
          <p:nvPr/>
        </p:nvSpPr>
        <p:spPr>
          <a:xfrm>
            <a:off x="4197603" y="452164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#8B9E7E</a:t>
            </a:r>
            <a:endParaRPr lang="en-US" sz="9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AE4FAF1E-7F46-D9A5-44C2-8ED896D894BA}"/>
              </a:ext>
            </a:extLst>
          </p:cNvPr>
          <p:cNvSpPr/>
          <p:nvPr/>
        </p:nvSpPr>
        <p:spPr>
          <a:xfrm>
            <a:off x="5752083" y="3378646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3A363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EE70AE7-258D-FF61-CDC8-7F5819D29D20}"/>
              </a:ext>
            </a:extLst>
          </p:cNvPr>
          <p:cNvSpPr/>
          <p:nvPr/>
        </p:nvSpPr>
        <p:spPr>
          <a:xfrm>
            <a:off x="5752083" y="429304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6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Charcoal</a:t>
            </a:r>
            <a:endParaRPr lang="en-US" sz="10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877606E-E325-9491-ADAE-0BCCAEFB8DD7}"/>
              </a:ext>
            </a:extLst>
          </p:cNvPr>
          <p:cNvSpPr/>
          <p:nvPr/>
        </p:nvSpPr>
        <p:spPr>
          <a:xfrm>
            <a:off x="5752083" y="452164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#3A3632</a:t>
            </a:r>
            <a:endParaRPr lang="en-US" sz="9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3CB85D06-59F6-5205-7A14-F0807A0DF8C2}"/>
              </a:ext>
            </a:extLst>
          </p:cNvPr>
          <p:cNvSpPr/>
          <p:nvPr/>
        </p:nvSpPr>
        <p:spPr>
          <a:xfrm>
            <a:off x="7306563" y="3378646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E8C96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04F39CD-85F7-A2C7-EC9E-20FC0A334B4D}"/>
              </a:ext>
            </a:extLst>
          </p:cNvPr>
          <p:cNvSpPr/>
          <p:nvPr/>
        </p:nvSpPr>
        <p:spPr>
          <a:xfrm>
            <a:off x="7306563" y="429304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63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Butter Yellow</a:t>
            </a:r>
            <a:endParaRPr lang="en-US" sz="10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E27FD87F-D7DC-9399-A075-86FBCF3054F7}"/>
              </a:ext>
            </a:extLst>
          </p:cNvPr>
          <p:cNvSpPr/>
          <p:nvPr/>
        </p:nvSpPr>
        <p:spPr>
          <a:xfrm>
            <a:off x="7306563" y="452164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#E8C96E</a:t>
            </a:r>
            <a:endParaRPr lang="en-US" sz="9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FC9CF7F-DB05-368B-60A0-1AE3B84F6D3E}"/>
              </a:ext>
            </a:extLst>
          </p:cNvPr>
          <p:cNvSpPr/>
          <p:nvPr/>
        </p:nvSpPr>
        <p:spPr>
          <a:xfrm>
            <a:off x="1645260" y="5663745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654BABA-E4E6-3015-1498-BFA251DDD382}"/>
              </a:ext>
            </a:extLst>
          </p:cNvPr>
          <p:cNvSpPr/>
          <p:nvPr/>
        </p:nvSpPr>
        <p:spPr>
          <a:xfrm>
            <a:off x="1919580" y="5755185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Sample Voice:  </a:t>
            </a:r>
            <a:r>
              <a:rPr lang="en-US" sz="1600" i="1" dirty="0">
                <a:solidFill>
                  <a:srgbClr val="0C1752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"The cardamom brioche is back. We only make it when the rain starts again, which, lucky you, was Tuesday."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7929F16-9DA5-29E6-0B19-8383F01CF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516" y="1197599"/>
            <a:ext cx="2653702" cy="436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2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D89FF-3A8B-E247-3773-DBF60B363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9AC04E-4B9D-3E19-0CB0-B1DDE565D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5B5718-6EE5-D7C5-8DE6-6BAC906FBC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412F3DE-5594-784D-F71A-B3BC9C6BDA3C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You’ll Learn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043236-FDDF-436D-3ACE-7E55FF70B451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A2EA34AC-190B-7C95-748C-900356FEED7E}"/>
              </a:ext>
            </a:extLst>
          </p:cNvPr>
          <p:cNvSpPr/>
          <p:nvPr/>
        </p:nvSpPr>
        <p:spPr>
          <a:xfrm>
            <a:off x="1457565" y="1824213"/>
            <a:ext cx="3703320" cy="1234440"/>
          </a:xfrm>
          <a:prstGeom prst="rect">
            <a:avLst/>
          </a:prstGeom>
          <a:solidFill>
            <a:srgbClr val="D56E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A6EB15D-884C-3EB4-DED6-CE14712ADD66}"/>
              </a:ext>
            </a:extLst>
          </p:cNvPr>
          <p:cNvSpPr/>
          <p:nvPr/>
        </p:nvSpPr>
        <p:spPr>
          <a:xfrm>
            <a:off x="1686165" y="2098533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8C79DFF7-F6D9-1B51-879C-7740B8330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037" y="2217405"/>
            <a:ext cx="402336" cy="402336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DFD5D644-3C1C-BED2-B7A2-14A396C7E2AD}"/>
              </a:ext>
            </a:extLst>
          </p:cNvPr>
          <p:cNvSpPr/>
          <p:nvPr/>
        </p:nvSpPr>
        <p:spPr>
          <a:xfrm>
            <a:off x="2509125" y="2052813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Brand Voice Control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952EE6CA-DDAE-E4A9-3B33-6304D0D687D2}"/>
              </a:ext>
            </a:extLst>
          </p:cNvPr>
          <p:cNvSpPr/>
          <p:nvPr/>
        </p:nvSpPr>
        <p:spPr>
          <a:xfrm>
            <a:off x="2509125" y="2418573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Give Codex a brand identity in your prompt and see it write in character</a:t>
            </a:r>
            <a:endParaRPr lang="en-US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DF19DCD0-41C2-0994-2082-C099F64422D8}"/>
              </a:ext>
            </a:extLst>
          </p:cNvPr>
          <p:cNvSpPr/>
          <p:nvPr/>
        </p:nvSpPr>
        <p:spPr>
          <a:xfrm>
            <a:off x="6620670" y="1870034"/>
            <a:ext cx="3703320" cy="1234440"/>
          </a:xfrm>
          <a:prstGeom prst="rect">
            <a:avLst/>
          </a:prstGeom>
          <a:solidFill>
            <a:srgbClr val="0C175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AE93E5AC-60F1-D230-190E-0E73FE3D65D8}"/>
              </a:ext>
            </a:extLst>
          </p:cNvPr>
          <p:cNvSpPr/>
          <p:nvPr/>
        </p:nvSpPr>
        <p:spPr>
          <a:xfrm>
            <a:off x="6849270" y="2144354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AF13C7BA-EAAF-B636-EB6D-248D7140C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142" y="2263226"/>
            <a:ext cx="402336" cy="402336"/>
          </a:xfrm>
          <a:prstGeom prst="rect">
            <a:avLst/>
          </a:prstGeom>
        </p:spPr>
      </p:pic>
      <p:sp>
        <p:nvSpPr>
          <p:cNvPr id="20" name="Text 10">
            <a:extLst>
              <a:ext uri="{FF2B5EF4-FFF2-40B4-BE49-F238E27FC236}">
                <a16:creationId xmlns:a16="http://schemas.microsoft.com/office/drawing/2014/main" id="{CD36E56B-92FA-4B19-5B32-B1F8040799F5}"/>
              </a:ext>
            </a:extLst>
          </p:cNvPr>
          <p:cNvSpPr/>
          <p:nvPr/>
        </p:nvSpPr>
        <p:spPr>
          <a:xfrm>
            <a:off x="7672230" y="209863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Image Generation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1A1A2464-82EE-C150-8D84-91ADD606001F}"/>
              </a:ext>
            </a:extLst>
          </p:cNvPr>
          <p:cNvSpPr/>
          <p:nvPr/>
        </p:nvSpPr>
        <p:spPr>
          <a:xfrm>
            <a:off x="7672230" y="246439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Generate a custom hero image with style and palette guidance</a:t>
            </a:r>
            <a:endParaRPr lang="en-US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90A50139-3F84-05F9-8E5E-94D48887C28B}"/>
              </a:ext>
            </a:extLst>
          </p:cNvPr>
          <p:cNvSpPr/>
          <p:nvPr/>
        </p:nvSpPr>
        <p:spPr>
          <a:xfrm>
            <a:off x="1457565" y="3424413"/>
            <a:ext cx="3703320" cy="1234440"/>
          </a:xfrm>
          <a:prstGeom prst="rect">
            <a:avLst/>
          </a:prstGeom>
          <a:solidFill>
            <a:schemeClr val="bg1">
              <a:lumMod val="6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D687C6D9-4408-59DD-5D4C-BBFB1A2C8C81}"/>
              </a:ext>
            </a:extLst>
          </p:cNvPr>
          <p:cNvSpPr/>
          <p:nvPr/>
        </p:nvSpPr>
        <p:spPr>
          <a:xfrm>
            <a:off x="1686165" y="3698733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186CC20B-1297-E73D-9401-3495507916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037" y="3817605"/>
            <a:ext cx="402336" cy="402336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FF6B6536-953D-4184-F686-188CAC9FAEF8}"/>
              </a:ext>
            </a:extLst>
          </p:cNvPr>
          <p:cNvSpPr/>
          <p:nvPr/>
        </p:nvSpPr>
        <p:spPr>
          <a:xfrm>
            <a:off x="2509125" y="3653013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Prompt Chaining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A6CF71DC-D69B-45C4-FF13-AFE4453F9FE9}"/>
              </a:ext>
            </a:extLst>
          </p:cNvPr>
          <p:cNvSpPr/>
          <p:nvPr/>
        </p:nvSpPr>
        <p:spPr>
          <a:xfrm>
            <a:off x="2509125" y="4018773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Build prompts that reference outputs from previous steps</a:t>
            </a:r>
            <a:endParaRPr lang="en-US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053A208B-1F1C-85D8-EA83-AA96506D6315}"/>
              </a:ext>
            </a:extLst>
          </p:cNvPr>
          <p:cNvSpPr/>
          <p:nvPr/>
        </p:nvSpPr>
        <p:spPr>
          <a:xfrm>
            <a:off x="6620670" y="3470234"/>
            <a:ext cx="3703320" cy="1234440"/>
          </a:xfrm>
          <a:prstGeom prst="rect">
            <a:avLst/>
          </a:prstGeom>
          <a:solidFill>
            <a:srgbClr val="1BBFD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4E52400E-1D58-B78A-0C4A-B7A07B870874}"/>
              </a:ext>
            </a:extLst>
          </p:cNvPr>
          <p:cNvSpPr/>
          <p:nvPr/>
        </p:nvSpPr>
        <p:spPr>
          <a:xfrm>
            <a:off x="6849270" y="3744554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EBAE65BF-2C0E-E84F-1833-2DF70A2E97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8142" y="3863426"/>
            <a:ext cx="402336" cy="402336"/>
          </a:xfrm>
          <a:prstGeom prst="rect">
            <a:avLst/>
          </a:prstGeom>
        </p:spPr>
      </p:pic>
      <p:sp>
        <p:nvSpPr>
          <p:cNvPr id="30" name="Text 18">
            <a:extLst>
              <a:ext uri="{FF2B5EF4-FFF2-40B4-BE49-F238E27FC236}">
                <a16:creationId xmlns:a16="http://schemas.microsoft.com/office/drawing/2014/main" id="{6D2C74F3-EBEE-B590-5EF3-E52BD2F3C0C6}"/>
              </a:ext>
            </a:extLst>
          </p:cNvPr>
          <p:cNvSpPr/>
          <p:nvPr/>
        </p:nvSpPr>
        <p:spPr>
          <a:xfrm>
            <a:off x="7672230" y="369883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Visual Deliverables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46EA6CB7-9A3E-8326-E05E-B97537AC45E2}"/>
              </a:ext>
            </a:extLst>
          </p:cNvPr>
          <p:cNvSpPr/>
          <p:nvPr/>
        </p:nvSpPr>
        <p:spPr>
          <a:xfrm>
            <a:off x="7672230" y="406459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Get Codex to produce a polished, print-ready HTML flyer</a:t>
            </a:r>
            <a:endParaRPr lang="en-US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84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1976-2AE7-4EF7-1560-C61D0DF2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D5BA7-FB07-7089-F20D-24BB35AAE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664485-532C-5083-5A25-F8BB6A038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71C1B3F-A8C9-9CB8-73B0-ED05DBBB3FA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The Two-Prompt Workflow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35601-1B01-6301-4C7A-EC04531AF16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DB8402FB-A505-FDE1-E97D-161C3B259F22}"/>
              </a:ext>
            </a:extLst>
          </p:cNvPr>
          <p:cNvSpPr/>
          <p:nvPr/>
        </p:nvSpPr>
        <p:spPr>
          <a:xfrm>
            <a:off x="956407" y="1959229"/>
            <a:ext cx="4109400" cy="2926080"/>
          </a:xfrm>
          <a:prstGeom prst="roundRect">
            <a:avLst>
              <a:gd name="adj" fmla="val 3125"/>
            </a:avLst>
          </a:prstGeom>
          <a:solidFill>
            <a:schemeClr val="bg1">
              <a:lumMod val="95000"/>
            </a:schemeClr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1D2D68CD-FBC6-14ED-19F8-EC8DC0193FBA}"/>
              </a:ext>
            </a:extLst>
          </p:cNvPr>
          <p:cNvSpPr/>
          <p:nvPr/>
        </p:nvSpPr>
        <p:spPr>
          <a:xfrm>
            <a:off x="956406" y="1959229"/>
            <a:ext cx="4109401" cy="502920"/>
          </a:xfrm>
          <a:prstGeom prst="roundRect">
            <a:avLst>
              <a:gd name="adj" fmla="val 18182"/>
            </a:avLst>
          </a:prstGeom>
          <a:solidFill>
            <a:srgbClr val="0C1752"/>
          </a:solidFill>
          <a:ln/>
        </p:spPr>
        <p:txBody>
          <a:bodyPr/>
          <a:lstStyle/>
          <a:p>
            <a:endParaRPr lang="en-CA" dirty="0">
              <a:latin typeface="Montserrat" panose="00000500000000000000" pitchFamily="2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B3278CF-FA77-4CF0-D1BE-B8F5F749BD10}"/>
              </a:ext>
            </a:extLst>
          </p:cNvPr>
          <p:cNvSpPr/>
          <p:nvPr/>
        </p:nvSpPr>
        <p:spPr>
          <a:xfrm>
            <a:off x="956407" y="2233549"/>
            <a:ext cx="4109400" cy="22860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dirty="0">
              <a:latin typeface="Montserrat" panose="00000500000000000000" pitchFamily="2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3B674E9A-8204-FF4A-ABD1-F2D5205EA4FC}"/>
              </a:ext>
            </a:extLst>
          </p:cNvPr>
          <p:cNvSpPr/>
          <p:nvPr/>
        </p:nvSpPr>
        <p:spPr>
          <a:xfrm>
            <a:off x="956407" y="1959229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Prompt 1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6454D7B-8ED3-E7A2-B9AE-ECEF5935B5D1}"/>
              </a:ext>
            </a:extLst>
          </p:cNvPr>
          <p:cNvSpPr/>
          <p:nvPr/>
        </p:nvSpPr>
        <p:spPr>
          <a:xfrm>
            <a:off x="1230727" y="2645029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3632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Hero Image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C19000C-198E-E594-85EE-070994D9A187}"/>
              </a:ext>
            </a:extLst>
          </p:cNvPr>
          <p:cNvSpPr/>
          <p:nvPr/>
        </p:nvSpPr>
        <p:spPr>
          <a:xfrm>
            <a:off x="890432" y="3102229"/>
            <a:ext cx="3540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A3632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Include brand info in the prompt</a:t>
            </a:r>
            <a:endParaRPr lang="en-US" sz="1300" dirty="0"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A3632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Describe the image style and palette</a:t>
            </a:r>
            <a:endParaRPr lang="en-US" sz="1300" dirty="0"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A3632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Generate a hero image</a:t>
            </a:r>
            <a:endParaRPr lang="en-US" sz="1300" dirty="0">
              <a:latin typeface="Montserrat" panose="00000500000000000000" pitchFamily="2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8345273-BCA8-406C-B4DB-2F16E61F9B48}"/>
              </a:ext>
            </a:extLst>
          </p:cNvPr>
          <p:cNvSpPr/>
          <p:nvPr/>
        </p:nvSpPr>
        <p:spPr>
          <a:xfrm>
            <a:off x="6823614" y="1959229"/>
            <a:ext cx="4175374" cy="2926080"/>
          </a:xfrm>
          <a:prstGeom prst="roundRect">
            <a:avLst>
              <a:gd name="adj" fmla="val 3125"/>
            </a:avLst>
          </a:prstGeom>
          <a:solidFill>
            <a:schemeClr val="bg1">
              <a:lumMod val="95000"/>
            </a:schemeClr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E32F44C-136B-0D02-0922-3873DD3F799D}"/>
              </a:ext>
            </a:extLst>
          </p:cNvPr>
          <p:cNvSpPr/>
          <p:nvPr/>
        </p:nvSpPr>
        <p:spPr>
          <a:xfrm>
            <a:off x="6823613" y="1959229"/>
            <a:ext cx="4175373" cy="502920"/>
          </a:xfrm>
          <a:prstGeom prst="roundRect">
            <a:avLst>
              <a:gd name="adj" fmla="val 18182"/>
            </a:avLst>
          </a:prstGeom>
          <a:solidFill>
            <a:srgbClr val="D56E48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E03234DC-ED3C-1466-ABF5-961816517720}"/>
              </a:ext>
            </a:extLst>
          </p:cNvPr>
          <p:cNvSpPr/>
          <p:nvPr/>
        </p:nvSpPr>
        <p:spPr>
          <a:xfrm>
            <a:off x="6823614" y="2233549"/>
            <a:ext cx="4175372" cy="228600"/>
          </a:xfrm>
          <a:prstGeom prst="rect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>
              <a:latin typeface="Montserrat" panose="00000500000000000000" pitchFamily="2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2384244-43F1-4A36-7455-413AACA5AF4A}"/>
              </a:ext>
            </a:extLst>
          </p:cNvPr>
          <p:cNvSpPr/>
          <p:nvPr/>
        </p:nvSpPr>
        <p:spPr>
          <a:xfrm>
            <a:off x="6823614" y="1959229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Prompt 2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B80033CD-8F29-7092-D5AA-73F332D42CF3}"/>
              </a:ext>
            </a:extLst>
          </p:cNvPr>
          <p:cNvSpPr/>
          <p:nvPr/>
        </p:nvSpPr>
        <p:spPr>
          <a:xfrm>
            <a:off x="7097934" y="2645029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3632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Flyer Content &amp; Layout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61A850C-6CE3-B4B5-302E-DF21B01AB039}"/>
              </a:ext>
            </a:extLst>
          </p:cNvPr>
          <p:cNvSpPr/>
          <p:nvPr/>
        </p:nvSpPr>
        <p:spPr>
          <a:xfrm>
            <a:off x="7097934" y="3102229"/>
            <a:ext cx="353259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A3632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Write headline, body, CTA</a:t>
            </a:r>
            <a:endParaRPr lang="en-US" sz="1300" dirty="0"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A3632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Build the HTML flyer</a:t>
            </a:r>
            <a:endParaRPr lang="en-US" sz="1300" dirty="0">
              <a:latin typeface="Montserrat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A3632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Apply palette and typography</a:t>
            </a:r>
            <a:endParaRPr lang="en-US" sz="13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52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1976-2AE7-4EF7-1560-C61D0DF2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D5BA7-FB07-7089-F20D-24BB35AAE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664485-532C-5083-5A25-F8BB6A038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71C1B3F-A8C9-9CB8-73B0-ED05DBBB3FA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You’ll Build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35601-1B01-6301-4C7A-EC04531AF16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9E15C05-13DD-6CF4-305F-B268C27E0832}"/>
              </a:ext>
            </a:extLst>
          </p:cNvPr>
          <p:cNvSpPr/>
          <p:nvPr/>
        </p:nvSpPr>
        <p:spPr>
          <a:xfrm>
            <a:off x="731520" y="137160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F9F9F9"/>
          </a:solidFill>
          <a:ln/>
        </p:spPr>
        <p:txBody>
          <a:bodyPr/>
          <a:lstStyle/>
          <a:p>
            <a:endParaRPr lang="en-CA" sz="2000">
              <a:latin typeface="Montserrat" panose="00000500000000000000" pitchFamily="2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A560F7EC-E40C-2B8E-4809-CBE66DECFE21}"/>
              </a:ext>
            </a:extLst>
          </p:cNvPr>
          <p:cNvSpPr/>
          <p:nvPr/>
        </p:nvSpPr>
        <p:spPr>
          <a:xfrm>
            <a:off x="731520" y="1371600"/>
            <a:ext cx="109728" cy="82296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000">
              <a:latin typeface="Montserrat" panose="00000500000000000000" pitchFamily="2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8483DA2-E21F-6FEF-E9F8-3BF43F94289E}"/>
              </a:ext>
            </a:extLst>
          </p:cNvPr>
          <p:cNvSpPr/>
          <p:nvPr/>
        </p:nvSpPr>
        <p:spPr>
          <a:xfrm>
            <a:off x="109728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63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assets/flyer_hero.png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7713A04-7AA6-89B4-72FE-26771AAAE5B0}"/>
              </a:ext>
            </a:extLst>
          </p:cNvPr>
          <p:cNvSpPr/>
          <p:nvPr/>
        </p:nvSpPr>
        <p:spPr>
          <a:xfrm>
            <a:off x="1097280" y="1783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On-brand hero image for the flyer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868E2B80-A9D3-CFAC-D9FC-A986801D0FB3}"/>
              </a:ext>
            </a:extLst>
          </p:cNvPr>
          <p:cNvSpPr/>
          <p:nvPr/>
        </p:nvSpPr>
        <p:spPr>
          <a:xfrm>
            <a:off x="704934" y="2915084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F9F9F9"/>
          </a:solidFill>
          <a:ln/>
        </p:spPr>
        <p:txBody>
          <a:bodyPr/>
          <a:lstStyle/>
          <a:p>
            <a:endParaRPr lang="en-CA" sz="2000">
              <a:latin typeface="Montserrat" panose="00000500000000000000" pitchFamily="2" charset="0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FEF71227-BC45-20A7-1F4C-BA85B03F7821}"/>
              </a:ext>
            </a:extLst>
          </p:cNvPr>
          <p:cNvSpPr/>
          <p:nvPr/>
        </p:nvSpPr>
        <p:spPr>
          <a:xfrm>
            <a:off x="731520" y="2915084"/>
            <a:ext cx="109728" cy="822960"/>
          </a:xfrm>
          <a:prstGeom prst="rect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 sz="2000">
              <a:latin typeface="Montserrat" panose="00000500000000000000" pitchFamily="2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A735898B-7C83-FE5A-7101-DB572E83EEAD}"/>
              </a:ext>
            </a:extLst>
          </p:cNvPr>
          <p:cNvSpPr/>
          <p:nvPr/>
        </p:nvSpPr>
        <p:spPr>
          <a:xfrm>
            <a:off x="1097280" y="29608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63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output/flyer_copy.md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915544D2-B84B-8439-8F50-5D4B6B3356BE}"/>
              </a:ext>
            </a:extLst>
          </p:cNvPr>
          <p:cNvSpPr/>
          <p:nvPr/>
        </p:nvSpPr>
        <p:spPr>
          <a:xfrm>
            <a:off x="1097280" y="33265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Headline, body copy, and CTA in Maya's voice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D09FA039-0123-351D-F4CD-E010329187FC}"/>
              </a:ext>
            </a:extLst>
          </p:cNvPr>
          <p:cNvSpPr/>
          <p:nvPr/>
        </p:nvSpPr>
        <p:spPr>
          <a:xfrm>
            <a:off x="731520" y="4458568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F9F9F9"/>
          </a:solidFill>
          <a:ln/>
        </p:spPr>
        <p:txBody>
          <a:bodyPr/>
          <a:lstStyle/>
          <a:p>
            <a:endParaRPr lang="en-CA" sz="2000">
              <a:latin typeface="Montserrat" panose="00000500000000000000" pitchFamily="2" charset="0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D1142D4D-56AC-EAAB-124A-59C59069F26E}"/>
              </a:ext>
            </a:extLst>
          </p:cNvPr>
          <p:cNvSpPr/>
          <p:nvPr/>
        </p:nvSpPr>
        <p:spPr>
          <a:xfrm>
            <a:off x="731520" y="4458568"/>
            <a:ext cx="109728" cy="822960"/>
          </a:xfrm>
          <a:prstGeom prst="rect">
            <a:avLst/>
          </a:prstGeom>
          <a:solidFill>
            <a:srgbClr val="1BBFD1"/>
          </a:solidFill>
          <a:ln/>
        </p:spPr>
        <p:txBody>
          <a:bodyPr/>
          <a:lstStyle/>
          <a:p>
            <a:endParaRPr lang="en-CA" sz="2000">
              <a:latin typeface="Montserrat" panose="00000500000000000000" pitchFamily="2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1FCB84BA-1A42-EC37-1E2F-28A2038F9E8A}"/>
              </a:ext>
            </a:extLst>
          </p:cNvPr>
          <p:cNvSpPr/>
          <p:nvPr/>
        </p:nvSpPr>
        <p:spPr>
          <a:xfrm>
            <a:off x="1097280" y="45042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632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output/grand_opening_flyer.html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31C07094-0152-6FDB-F1D3-AA0E6F104CBE}"/>
              </a:ext>
            </a:extLst>
          </p:cNvPr>
          <p:cNvSpPr/>
          <p:nvPr/>
        </p:nvSpPr>
        <p:spPr>
          <a:xfrm>
            <a:off x="1097280" y="48700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7777"/>
                </a:solidFill>
                <a:latin typeface="Montserrat" panose="00000500000000000000" pitchFamily="2" charset="0"/>
                <a:ea typeface="DM Sans" pitchFamily="34" charset="-122"/>
                <a:cs typeface="DM Sans" pitchFamily="34" charset="-120"/>
              </a:rPr>
              <a:t>Print-ready flyer with image, copy, and layout</a:t>
            </a:r>
            <a:endParaRPr lang="en-US" sz="1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52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8119-7316-DCCD-8529-89E69626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F8B20D-38DE-5853-3A46-478AAC00AA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590D81-BD50-189A-6CC1-2F60C37A7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B9C261F-2FE1-3933-13ED-22A8DEA29FED}"/>
              </a:ext>
            </a:extLst>
          </p:cNvPr>
          <p:cNvSpPr/>
          <p:nvPr/>
        </p:nvSpPr>
        <p:spPr>
          <a:xfrm>
            <a:off x="293914" y="793804"/>
            <a:ext cx="55785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F56D5-8E7B-B4BF-143C-DBAB3836B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68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AE2FF-4D12-4AB1-15B0-8A29A91DE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25B21C-D142-6C03-A874-B625D81DE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AFCD39-ED58-E3C5-7A44-D7E72D79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F35A18A5-C4F6-75C9-5311-82839B79873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E02713-A81E-E51E-4CB0-5F44106D663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D57A0B-6730-2D3A-4A99-C7668329DA13}"/>
              </a:ext>
            </a:extLst>
          </p:cNvPr>
          <p:cNvSpPr txBox="1"/>
          <p:nvPr/>
        </p:nvSpPr>
        <p:spPr>
          <a:xfrm>
            <a:off x="189384" y="871861"/>
            <a:ext cx="11780457" cy="6495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sz="1600" dirty="0"/>
          </a:p>
          <a:p>
            <a:endParaRPr lang="en-US" sz="1400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6849106E-94D0-A5D7-DCD2-89478663F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EFFCC-8FDE-188B-11B7-E6FF17D59EAF}"/>
              </a:ext>
            </a:extLst>
          </p:cNvPr>
          <p:cNvSpPr txBox="1"/>
          <p:nvPr/>
        </p:nvSpPr>
        <p:spPr>
          <a:xfrm>
            <a:off x="153409" y="907669"/>
            <a:ext cx="92754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Hound &amp; Home is a dog grooming studio and boutique pet supply shop in Nashville, Tennessee. Founded by Marcus Cole, a former veterinary technician who wanted to build a grooming space that doesn't stress dogs out. The shop sells locally made dog treats, bandanas, and ceramic food bowls. Voice is friendly, straightforward, and a little goofy without being baby-talk.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" panose="00000500000000000000" pitchFamily="2" charset="0"/>
              </a:rPr>
              <a:t>Grand opening is Saturday, July 12th, 10 AM to 4 PM. The first 30 dogs get a free grooming session.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ontserrat" panose="00000500000000000000" pitchFamily="2" charset="0"/>
            </a:endParaRPr>
          </a:p>
          <a:p>
            <a:r>
              <a:rPr lang="en-US" sz="1600" b="1" dirty="0">
                <a:latin typeface="Montserrat" panose="00000500000000000000" pitchFamily="2" charset="0"/>
              </a:rPr>
              <a:t>Tasks: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ontserrat" panose="000005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Montserrat" panose="00000500000000000000" pitchFamily="2" charset="0"/>
              </a:rPr>
              <a:t>Write a prompt that includes Hound &amp; Home's brand info (voice, palette, vibe) and generates a hero image that captures the warm, relaxed grooming studio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Montserrat" panose="00000500000000000000" pitchFamily="2" charset="0"/>
              </a:rPr>
              <a:t>Write a prompt that references the hero image from prompt 1 and builds the full grand opening flyer with copy and layout.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C4654B-1C83-9908-9DE5-0BFEBA41709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98545" y="747334"/>
            <a:ext cx="3060152" cy="242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31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980C7-DD9F-7F42-09E2-D22269723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D5D772-2823-E59D-3C73-38DB8F04D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188775-958D-CA3C-720D-D0EA9903AE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7086E77-4D8A-C9B4-876D-1E60A0952C57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57304-8566-74D5-8E29-C5DB55144E0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4CEDA3-0852-4EC0-DDCF-F240DD92C536}"/>
              </a:ext>
            </a:extLst>
          </p:cNvPr>
          <p:cNvSpPr txBox="1"/>
          <p:nvPr/>
        </p:nvSpPr>
        <p:spPr>
          <a:xfrm>
            <a:off x="189384" y="871861"/>
            <a:ext cx="11780457" cy="6495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sz="1600" dirty="0"/>
          </a:p>
          <a:p>
            <a:endParaRPr lang="en-US" sz="1400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C3D2773E-940D-42FC-5A78-23BCD0686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4AC4F5-C2F0-BA6D-2DF6-69E12EDEC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081" y="839957"/>
            <a:ext cx="4435996" cy="573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35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48C84-86FE-25A0-ECB5-967CFE3D0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024E00-E7CB-A123-604F-774F310676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DEE1C3-1155-9316-4225-79CC43DE8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ABBB7E-171F-E75E-085E-F04BCB665E6B}"/>
              </a:ext>
            </a:extLst>
          </p:cNvPr>
          <p:cNvSpPr/>
          <p:nvPr/>
        </p:nvSpPr>
        <p:spPr>
          <a:xfrm>
            <a:off x="293914" y="793804"/>
            <a:ext cx="557856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F5E8C-9325-E424-3F18-2A139609E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944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A0AF0-F86C-94D4-AAA6-5E8436A2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B30408-F074-D832-A3A0-E25D3D34D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1935F2-0703-162F-14BA-812C942129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E4C690D-E529-18C5-5690-87D18FE7142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Prompt Engineering?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FB8CB-C147-4A2E-3D2C-9C3F6CCE7DA3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1796F8B-9DA9-613E-7780-54E66F3E50A9}"/>
              </a:ext>
            </a:extLst>
          </p:cNvPr>
          <p:cNvSpPr txBox="1">
            <a:spLocks/>
          </p:cNvSpPr>
          <p:nvPr/>
        </p:nvSpPr>
        <p:spPr>
          <a:xfrm>
            <a:off x="154722" y="843061"/>
            <a:ext cx="11926147" cy="165606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40" lvl="1" indent="-342917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Font typeface="+mj-lt"/>
              <a:buAutoNum type="arabicPeriod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11CCDD"/>
              </a:buClr>
              <a:buFont typeface="Arial" panose="020B0604020202020204" pitchFamily="34" charset="0"/>
              <a:buChar char="•"/>
            </a:pPr>
            <a:r>
              <a:rPr lang="en-US" dirty="0"/>
              <a:t>Prompt engineering is the practice of designing and optimizing text input to generative AI models to obtain desired responses.</a:t>
            </a:r>
          </a:p>
          <a:p>
            <a:pPr marL="342900" indent="-342900">
              <a:buClr>
                <a:srgbClr val="11CCDD"/>
              </a:buClr>
              <a:buFont typeface="Arial" panose="020B0604020202020204" pitchFamily="34" charset="0"/>
              <a:buChar char="•"/>
            </a:pPr>
            <a:r>
              <a:rPr lang="en-US" dirty="0"/>
              <a:t>It is the art of communicating with a generative AI model.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1566C-5DE7-6203-E3A4-44648661F3FF}"/>
              </a:ext>
            </a:extLst>
          </p:cNvPr>
          <p:cNvSpPr txBox="1"/>
          <p:nvPr/>
        </p:nvSpPr>
        <p:spPr>
          <a:xfrm>
            <a:off x="3634989" y="2014200"/>
            <a:ext cx="5835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 i="0">
                <a:solidFill>
                  <a:srgbClr val="16191F"/>
                </a:solidFill>
                <a:effectLst/>
                <a:latin typeface="Montserrat" panose="00000500000000000000" pitchFamily="2" charset="0"/>
              </a:defRPr>
            </a:lvl1pPr>
          </a:lstStyle>
          <a:p>
            <a:pPr defTabSz="914446"/>
            <a:endParaRPr lang="en-US" sz="2400" i="1" dirty="0">
              <a:solidFill>
                <a:srgbClr val="0C1752"/>
              </a:solidFill>
              <a:latin typeface="Cambria" panose="02040503050406030204"/>
            </a:endParaRPr>
          </a:p>
          <a:p>
            <a:pPr defTabSz="914446"/>
            <a:r>
              <a:rPr lang="en-US" sz="2400" i="1" dirty="0">
                <a:solidFill>
                  <a:srgbClr val="0C1752"/>
                </a:solidFill>
                <a:latin typeface="Cambria" panose="02040503050406030204"/>
              </a:rPr>
              <a:t>“Recommend a book.”</a:t>
            </a:r>
          </a:p>
          <a:p>
            <a:pPr defTabSz="914446"/>
            <a:endParaRPr lang="en-US" sz="2400" i="1" dirty="0">
              <a:solidFill>
                <a:srgbClr val="0C1752"/>
              </a:solidFill>
              <a:latin typeface="Cambria" panose="02040503050406030204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0BDB679-5B33-11DC-645E-A1D5C8331D51}"/>
              </a:ext>
            </a:extLst>
          </p:cNvPr>
          <p:cNvCxnSpPr>
            <a:cxnSpLocks/>
          </p:cNvCxnSpPr>
          <p:nvPr/>
        </p:nvCxnSpPr>
        <p:spPr>
          <a:xfrm>
            <a:off x="3437938" y="2435839"/>
            <a:ext cx="0" cy="2189480"/>
          </a:xfrm>
          <a:prstGeom prst="straightConnector1">
            <a:avLst/>
          </a:prstGeom>
          <a:ln w="76200">
            <a:solidFill>
              <a:srgbClr val="11CC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EF05BC-C16E-D505-C9E5-58DB52BB443C}"/>
              </a:ext>
            </a:extLst>
          </p:cNvPr>
          <p:cNvSpPr txBox="1"/>
          <p:nvPr/>
        </p:nvSpPr>
        <p:spPr>
          <a:xfrm>
            <a:off x="307900" y="2492773"/>
            <a:ext cx="29329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sz="2400" dirty="0">
                <a:solidFill>
                  <a:srgbClr val="D56E48"/>
                </a:solidFill>
                <a:latin typeface="Cambria" panose="02040503050406030204"/>
              </a:rPr>
              <a:t>High-quality prompts guide the AI model to generate better outputs.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08CE1-C802-3AD4-9BD3-5EF82ABC1F39}"/>
              </a:ext>
            </a:extLst>
          </p:cNvPr>
          <p:cNvSpPr txBox="1"/>
          <p:nvPr/>
        </p:nvSpPr>
        <p:spPr>
          <a:xfrm>
            <a:off x="3634989" y="3258204"/>
            <a:ext cx="42679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 i="1">
                <a:solidFill>
                  <a:srgbClr val="16191F"/>
                </a:solidFill>
                <a:effectLst/>
                <a:latin typeface="+mj-lt"/>
              </a:defRPr>
            </a:lvl1pPr>
          </a:lstStyle>
          <a:p>
            <a:pPr defTabSz="914446"/>
            <a:r>
              <a:rPr lang="en-US" sz="2400" dirty="0">
                <a:solidFill>
                  <a:srgbClr val="0C1752"/>
                </a:solidFill>
                <a:latin typeface="Cambria" panose="02040503050406030204"/>
              </a:rPr>
              <a:t>“Recommend a fiction book.”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17129-31C3-811D-9CED-725667C877AE}"/>
              </a:ext>
            </a:extLst>
          </p:cNvPr>
          <p:cNvSpPr txBox="1"/>
          <p:nvPr/>
        </p:nvSpPr>
        <p:spPr>
          <a:xfrm>
            <a:off x="3634989" y="4194432"/>
            <a:ext cx="8434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 i="1">
                <a:solidFill>
                  <a:srgbClr val="16191F"/>
                </a:solidFill>
                <a:effectLst/>
                <a:latin typeface="+mj-lt"/>
              </a:defRPr>
            </a:lvl1pPr>
          </a:lstStyle>
          <a:p>
            <a:pPr defTabSz="914446"/>
            <a:r>
              <a:rPr lang="en-US" sz="2400" dirty="0">
                <a:solidFill>
                  <a:srgbClr val="0C1752"/>
                </a:solidFill>
                <a:latin typeface="Cambria" panose="02040503050406030204"/>
              </a:rPr>
              <a:t>“Recommend a historical fiction book set in World War II.” </a:t>
            </a:r>
          </a:p>
        </p:txBody>
      </p:sp>
    </p:spTree>
    <p:extLst>
      <p:ext uri="{BB962C8B-B14F-4D97-AF65-F5344CB8AC3E}">
        <p14:creationId xmlns:p14="http://schemas.microsoft.com/office/powerpoint/2010/main" val="132988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6971-7BD5-6E22-DF3D-E7EDCCF0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831AE2-B350-CC8D-E298-1AAA611C5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8267A-B817-F697-7E5E-229925F7BC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C517F12-E9DE-419F-4FC4-2B20CE54B453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Components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56E24-AAF7-E9CF-040B-E405D8ED1616}"/>
              </a:ext>
            </a:extLst>
          </p:cNvPr>
          <p:cNvSpPr txBox="1"/>
          <p:nvPr/>
        </p:nvSpPr>
        <p:spPr>
          <a:xfrm rot="5400000">
            <a:off x="9505627" y="3450945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9EBC69-DF22-0171-2DC8-CE15CA8C7CF2}"/>
              </a:ext>
            </a:extLst>
          </p:cNvPr>
          <p:cNvSpPr txBox="1"/>
          <p:nvPr/>
        </p:nvSpPr>
        <p:spPr>
          <a:xfrm>
            <a:off x="5578437" y="843386"/>
            <a:ext cx="6391313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Context: </a:t>
            </a:r>
          </a:p>
          <a:p>
            <a:pPr defTabSz="914446"/>
            <a:r>
              <a:rPr lang="en-US" sz="1700" dirty="0">
                <a:solidFill>
                  <a:srgbClr val="0C1752"/>
                </a:solidFill>
                <a:latin typeface="Montserrat" panose="00000500000000000000" pitchFamily="2" charset="0"/>
              </a:rPr>
              <a:t>You are a Smart Home Energy Advisor who helps homeowners reduce energy use.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Instruction: </a:t>
            </a:r>
            <a:r>
              <a:rPr lang="en-US" sz="1700" dirty="0">
                <a:solidFill>
                  <a:srgbClr val="0C1752"/>
                </a:solidFill>
                <a:latin typeface="Montserrat" panose="00000500000000000000" pitchFamily="2" charset="0"/>
              </a:rPr>
              <a:t>When given a household prompt, provide practical, prioritized advice.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Input: </a:t>
            </a:r>
            <a:r>
              <a:rPr lang="en-US" sz="1700" dirty="0">
                <a:solidFill>
                  <a:srgbClr val="0C1752"/>
                </a:solidFill>
                <a:latin typeface="Montserrat" panose="00000500000000000000" pitchFamily="2" charset="0"/>
              </a:rPr>
              <a:t>You will receive a question about energy usage or device efficiency.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Output: </a:t>
            </a:r>
            <a:r>
              <a:rPr lang="en-US" sz="1700" dirty="0">
                <a:solidFill>
                  <a:srgbClr val="0C1752"/>
                </a:solidFill>
                <a:latin typeface="Montserrat" panose="00000500000000000000" pitchFamily="2" charset="0"/>
              </a:rPr>
              <a:t>Respond with (1) A short, clear recommendation list (2-4 bullets), (2) One quick win that can be done today</a:t>
            </a: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endParaRPr lang="en-US" sz="1700" b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 </a:t>
            </a:r>
          </a:p>
          <a:p>
            <a:pPr defTabSz="914446"/>
            <a:endParaRPr lang="en-US" sz="17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9BB976-F224-F9BD-464A-597AA196D487}"/>
              </a:ext>
            </a:extLst>
          </p:cNvPr>
          <p:cNvSpPr txBox="1"/>
          <p:nvPr/>
        </p:nvSpPr>
        <p:spPr>
          <a:xfrm>
            <a:off x="7342667" y="2744777"/>
            <a:ext cx="4446811" cy="4719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algn="ctr" defTabSz="609585">
              <a:spcBef>
                <a:spcPct val="20000"/>
              </a:spcBef>
              <a:buFont typeface="Arial"/>
              <a:buNone/>
              <a:defRPr sz="1600" b="1">
                <a:solidFill>
                  <a:srgbClr val="062E6D"/>
                </a:solidFill>
                <a:latin typeface="Cambria Math" panose="02040503050406030204" pitchFamily="18" charset="0"/>
              </a:defRPr>
            </a:lvl1pPr>
            <a:lvl2pPr marL="990575" indent="-380990" defTabSz="609585">
              <a:spcBef>
                <a:spcPct val="20000"/>
              </a:spcBef>
              <a:buFont typeface="Arial"/>
              <a:buChar char="–"/>
              <a:defRPr sz="2133"/>
            </a:lvl2pPr>
            <a:lvl3pPr marL="1523962" indent="-304792" defTabSz="609585">
              <a:spcBef>
                <a:spcPct val="20000"/>
              </a:spcBef>
              <a:buFont typeface="Arial"/>
              <a:buChar char="•"/>
              <a:defRPr sz="2133"/>
            </a:lvl3pPr>
            <a:lvl4pPr marL="2133547" indent="-304792" defTabSz="609585">
              <a:spcBef>
                <a:spcPct val="20000"/>
              </a:spcBef>
              <a:buFont typeface="Arial"/>
              <a:buChar char="–"/>
              <a:defRPr sz="2133"/>
            </a:lvl4pPr>
            <a:lvl5pPr marL="2743131" indent="-304792" defTabSz="609585">
              <a:spcBef>
                <a:spcPct val="20000"/>
              </a:spcBef>
              <a:buFont typeface="Arial"/>
              <a:buChar char="»"/>
              <a:defRPr sz="2133"/>
            </a:lvl5pPr>
            <a:lvl6pPr marL="3352716" indent="-304792" defTabSz="609585">
              <a:spcBef>
                <a:spcPct val="20000"/>
              </a:spcBef>
              <a:buFont typeface="Arial"/>
              <a:buChar char="•"/>
              <a:defRPr sz="2667"/>
            </a:lvl6pPr>
            <a:lvl7pPr marL="3962301" indent="-304792" defTabSz="609585">
              <a:spcBef>
                <a:spcPct val="20000"/>
              </a:spcBef>
              <a:buFont typeface="Arial"/>
              <a:buChar char="•"/>
              <a:defRPr sz="2667"/>
            </a:lvl7pPr>
            <a:lvl8pPr marL="4571886" indent="-304792" defTabSz="609585">
              <a:spcBef>
                <a:spcPct val="20000"/>
              </a:spcBef>
              <a:buFont typeface="Arial"/>
              <a:buChar char="•"/>
              <a:defRPr sz="2667"/>
            </a:lvl8pPr>
            <a:lvl9pPr marL="5181470" indent="-304792" defTabSz="609585">
              <a:spcBef>
                <a:spcPct val="20000"/>
              </a:spcBef>
              <a:buFont typeface="Arial"/>
              <a:buChar char="•"/>
              <a:defRPr sz="2667"/>
            </a:lvl9pPr>
          </a:lstStyle>
          <a:p>
            <a:pPr defTabSz="406410"/>
            <a:endParaRPr lang="en-US" dirty="0">
              <a:solidFill>
                <a:srgbClr val="017ACD"/>
              </a:solidFill>
              <a:latin typeface="Montserrat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922287-A721-7CA9-BA44-C8D32C8A4CD6}"/>
              </a:ext>
            </a:extLst>
          </p:cNvPr>
          <p:cNvSpPr txBox="1"/>
          <p:nvPr/>
        </p:nvSpPr>
        <p:spPr>
          <a:xfrm>
            <a:off x="8845364" y="1831736"/>
            <a:ext cx="113685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Context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5F6A14-67E8-65F2-5116-71FCFB5B8971}"/>
              </a:ext>
            </a:extLst>
          </p:cNvPr>
          <p:cNvSpPr txBox="1"/>
          <p:nvPr/>
        </p:nvSpPr>
        <p:spPr>
          <a:xfrm>
            <a:off x="7121189" y="2917181"/>
            <a:ext cx="150073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Instruction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29A758-964D-6060-8C21-9CB048C9D375}"/>
              </a:ext>
            </a:extLst>
          </p:cNvPr>
          <p:cNvSpPr txBox="1"/>
          <p:nvPr/>
        </p:nvSpPr>
        <p:spPr>
          <a:xfrm>
            <a:off x="8865744" y="4256228"/>
            <a:ext cx="152157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Input 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104FBC-2960-2EAC-66A7-ACE43CD75800}"/>
              </a:ext>
            </a:extLst>
          </p:cNvPr>
          <p:cNvSpPr txBox="1"/>
          <p:nvPr/>
        </p:nvSpPr>
        <p:spPr>
          <a:xfrm>
            <a:off x="7198756" y="5813289"/>
            <a:ext cx="223009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Output Indicator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D92B5FB-3D78-856A-A558-416DA8F1866A}"/>
              </a:ext>
            </a:extLst>
          </p:cNvPr>
          <p:cNvSpPr txBox="1">
            <a:spLocks/>
          </p:cNvSpPr>
          <p:nvPr/>
        </p:nvSpPr>
        <p:spPr>
          <a:xfrm>
            <a:off x="96074" y="844237"/>
            <a:ext cx="4891221" cy="126367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2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Context: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 Set the scene, who is the AI, what's the situation?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5A657087-C8C0-0CD7-73B2-9CB892A1121E}"/>
              </a:ext>
            </a:extLst>
          </p:cNvPr>
          <p:cNvSpPr txBox="1">
            <a:spLocks/>
          </p:cNvSpPr>
          <p:nvPr/>
        </p:nvSpPr>
        <p:spPr>
          <a:xfrm>
            <a:off x="94700" y="1918567"/>
            <a:ext cx="4891221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3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spcBef>
                <a:spcPts val="267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Instruction: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A clear statement of the desired goal.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5ABA1B7-19E2-A145-44A4-3D6EC9C7D3C4}"/>
              </a:ext>
            </a:extLst>
          </p:cNvPr>
          <p:cNvSpPr txBox="1">
            <a:spLocks/>
          </p:cNvSpPr>
          <p:nvPr/>
        </p:nvSpPr>
        <p:spPr>
          <a:xfrm>
            <a:off x="92402" y="2987818"/>
            <a:ext cx="4891221" cy="126367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4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Input Data: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The data or content to analyze.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979358D0-B32D-3DD2-9EA1-5051625EDE8B}"/>
              </a:ext>
            </a:extLst>
          </p:cNvPr>
          <p:cNvSpPr txBox="1">
            <a:spLocks/>
          </p:cNvSpPr>
          <p:nvPr/>
        </p:nvSpPr>
        <p:spPr>
          <a:xfrm>
            <a:off x="92401" y="4057069"/>
            <a:ext cx="4891221" cy="125867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tx2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Output Indicator: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Define the expected format and structure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0058166-79A5-51DC-4F51-3F82CFA43ACE}"/>
              </a:ext>
            </a:extLst>
          </p:cNvPr>
          <p:cNvCxnSpPr>
            <a:cxnSpLocks/>
          </p:cNvCxnSpPr>
          <p:nvPr/>
        </p:nvCxnSpPr>
        <p:spPr>
          <a:xfrm>
            <a:off x="7785207" y="1666866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F0B8A4A-5B47-ABC6-BEAF-79FE88CB4CAC}"/>
              </a:ext>
            </a:extLst>
          </p:cNvPr>
          <p:cNvCxnSpPr>
            <a:cxnSpLocks/>
          </p:cNvCxnSpPr>
          <p:nvPr/>
        </p:nvCxnSpPr>
        <p:spPr>
          <a:xfrm>
            <a:off x="6068534" y="2746285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3E79204-107F-82A3-F613-43058C365F48}"/>
              </a:ext>
            </a:extLst>
          </p:cNvPr>
          <p:cNvCxnSpPr>
            <a:cxnSpLocks/>
          </p:cNvCxnSpPr>
          <p:nvPr/>
        </p:nvCxnSpPr>
        <p:spPr>
          <a:xfrm>
            <a:off x="7813089" y="4079946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7FA7A86-41AF-DCE4-29F3-E6B74EBEC148}"/>
              </a:ext>
            </a:extLst>
          </p:cNvPr>
          <p:cNvCxnSpPr>
            <a:cxnSpLocks/>
          </p:cNvCxnSpPr>
          <p:nvPr/>
        </p:nvCxnSpPr>
        <p:spPr>
          <a:xfrm>
            <a:off x="6098188" y="5640629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8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 animBg="1"/>
      <p:bldP spid="39" grpId="0" animBg="1"/>
      <p:bldP spid="40" grpId="0" animBg="1"/>
      <p:bldP spid="4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C2E2C-FE04-E3F8-B8AA-50762A958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A43217-E728-83F0-1A2D-36544F900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21EE94-A89E-B6AF-ED8F-C008F0A33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0A7BB07-E7C1-6A4B-400D-354DCFA9092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Prompting Essentials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01F1F-FBAF-2487-4897-3A7668F989B4}"/>
              </a:ext>
            </a:extLst>
          </p:cNvPr>
          <p:cNvSpPr txBox="1"/>
          <p:nvPr/>
        </p:nvSpPr>
        <p:spPr>
          <a:xfrm rot="5400000">
            <a:off x="9505627" y="3450945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DB2E059-44E8-0568-E24E-877B7B8393BD}"/>
              </a:ext>
            </a:extLst>
          </p:cNvPr>
          <p:cNvGraphicFramePr/>
          <p:nvPr/>
        </p:nvGraphicFramePr>
        <p:xfrm>
          <a:off x="55549" y="474092"/>
          <a:ext cx="12080902" cy="5605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7513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990541E-9525-4B2C-8234-06662E7CED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C990541E-9525-4B2C-8234-06662E7CED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57AFCB1-7251-4BA4-9D06-5F2257B5DE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657AFCB1-7251-4BA4-9D06-5F2257B5DE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992DE3B-5367-48F3-A222-767B0D598C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4992DE3B-5367-48F3-A222-767B0D598C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19D02D5-205D-48D9-91D0-F51801968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graphicEl>
                                              <a:dgm id="{319D02D5-205D-48D9-91D0-F518019683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0B3777D-9AB4-4C20-A928-FB7A9E2B84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70B3777D-9AB4-4C20-A928-FB7A9E2B84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9129A72-9A16-4BF9-8A53-1E4B13A9BC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graphicEl>
                                              <a:dgm id="{F9129A72-9A16-4BF9-8A53-1E4B13A9BC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052F529-2232-4925-A816-29D992A53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graphicEl>
                                              <a:dgm id="{6052F529-2232-4925-A816-29D992A533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A1D40-DAB9-67CE-BBBE-505710BA7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A175B4-3B61-E1B3-F604-EE8C7FE7AB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0A4E95-5529-E742-E8DD-6CDC220C5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A036BB0-4C72-AF02-1832-D27EF768E596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META PROMPTING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E7FEB4-8683-8505-AF9D-D73F173EC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80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2286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Meta-Prompting?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37160" y="1090978"/>
            <a:ext cx="11914632" cy="1463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Meta-Prompting is the technique of using AI to help you write better prompts.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Instead of crafting the perfect prompt yourself, you ask the AI to generate, refine, or optimize prompts for you.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F34EF9-7E92-2B1F-BA0C-2E47B0D12A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DD4335-6D74-E8AB-1E3F-014143D382D3}"/>
              </a:ext>
            </a:extLst>
          </p:cNvPr>
          <p:cNvSpPr txBox="1"/>
          <p:nvPr/>
        </p:nvSpPr>
        <p:spPr>
          <a:xfrm rot="5400000">
            <a:off x="9505627" y="3450945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7" name="Text 3"/>
          <p:cNvSpPr/>
          <p:nvPr/>
        </p:nvSpPr>
        <p:spPr>
          <a:xfrm>
            <a:off x="390651" y="249555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Without Meta-Prompting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90651" y="3000375"/>
            <a:ext cx="5303520" cy="2011680"/>
          </a:xfrm>
          <a:prstGeom prst="rect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573531" y="3091815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Your prompt:</a:t>
            </a:r>
            <a:endParaRPr lang="en-US" sz="13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Do a SWOT analysis for Tesla.</a:t>
            </a:r>
            <a:endParaRPr lang="en-US" sz="13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Text 6"/>
          <p:cNvSpPr/>
          <p:nvPr/>
        </p:nvSpPr>
        <p:spPr>
          <a:xfrm>
            <a:off x="573531" y="4051935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Result: 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Generic, unfocused summary missing key metrics and context.</a:t>
            </a:r>
            <a:endParaRPr lang="en-US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Text 7"/>
          <p:cNvSpPr/>
          <p:nvPr/>
        </p:nvSpPr>
        <p:spPr>
          <a:xfrm>
            <a:off x="6478317" y="24765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With Meta-Prompting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6478317" y="2979420"/>
            <a:ext cx="5303520" cy="2011680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6661197" y="30708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Your meta-prompt:</a:t>
            </a:r>
            <a:endParaRPr lang="en-US" sz="13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“Write me the best prompt to perform a detailed, data-driven SWOT analysis for Tesla’s Model Y in the current competitive landscape.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6661197" y="42595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Result: 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Structured, detailed prompt producing a detailed SWOT analysis.</a:t>
            </a:r>
            <a:endParaRPr lang="en-US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12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5501</TotalTime>
  <Words>1275</Words>
  <Application>Microsoft Office PowerPoint</Application>
  <PresentationFormat>Widescreen</PresentationFormat>
  <Paragraphs>159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</vt:lpstr>
      <vt:lpstr>DM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515</cp:revision>
  <dcterms:created xsi:type="dcterms:W3CDTF">2019-11-18T17:58:36Z</dcterms:created>
  <dcterms:modified xsi:type="dcterms:W3CDTF">2026-06-14T17:43:45Z</dcterms:modified>
</cp:coreProperties>
</file>