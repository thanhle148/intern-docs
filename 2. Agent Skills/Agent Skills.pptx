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565" r:id="rId2"/>
    <p:sldId id="4305" r:id="rId3"/>
    <p:sldId id="4295" r:id="rId4"/>
    <p:sldId id="4212" r:id="rId5"/>
    <p:sldId id="4213" r:id="rId6"/>
    <p:sldId id="4306" r:id="rId7"/>
    <p:sldId id="259" r:id="rId8"/>
    <p:sldId id="260" r:id="rId9"/>
    <p:sldId id="4307" r:id="rId10"/>
    <p:sldId id="27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1BBFD1"/>
    <a:srgbClr val="D56E48"/>
    <a:srgbClr val="11CCDD"/>
    <a:srgbClr val="F9F9F9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0" autoAdjust="0"/>
    <p:restoredTop sz="94721"/>
  </p:normalViewPr>
  <p:slideViewPr>
    <p:cSldViewPr snapToGrid="0" snapToObjects="1">
      <p:cViewPr varScale="1">
        <p:scale>
          <a:sx n="125" d="100"/>
          <a:sy n="125" d="100"/>
        </p:scale>
        <p:origin x="9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hyperlink" Target="https://www.skillhub.club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skills.sh/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github.com/openai/skills/tree/main/skills/.curat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laude-office-skills/skills/blob/main/ppt-visual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293915" y="489004"/>
            <a:ext cx="47434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CODEX MASTERCLASS</a:t>
            </a:r>
            <a:endParaRPr lang="en-US" sz="24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60D1A-8343-AE39-1C7E-EB456051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93B865-5280-52F8-A7E5-87FF21D1B6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C86A26-F672-CFE8-4EBB-1EF96160F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61F49B-3EBA-2426-8DB8-4448657D3F61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AGENT SKILLS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140DA-6AA1-A14D-0F75-696D7BF4D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18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86C7-9C61-0178-9610-39887921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CB3F50-D8DA-5FAF-D185-04525A1A2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FAE0E2-835B-946D-EFB6-90EB172566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00D3CCC-EC6E-1028-45B6-92981E49C0E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an agent skill?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7CB1F-4C2F-FD85-36FE-E18DDA413E4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E3BAD-8745-E1BE-2FFE-10E9A0D4B3FF}"/>
              </a:ext>
            </a:extLst>
          </p:cNvPr>
          <p:cNvSpPr txBox="1"/>
          <p:nvPr/>
        </p:nvSpPr>
        <p:spPr>
          <a:xfrm>
            <a:off x="236618" y="784575"/>
            <a:ext cx="115362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  <a:ea typeface="Calibri" pitchFamily="34" charset="-122"/>
                <a:cs typeface="Calibri" pitchFamily="34" charset="-120"/>
              </a:defRPr>
            </a:lvl1pPr>
          </a:lstStyle>
          <a:p>
            <a:pPr>
              <a:buClrTx/>
            </a:pPr>
            <a:r>
              <a:rPr lang="en-US" dirty="0"/>
              <a:t>Skills extend Codex capabilities by giving it access to specialized knowledge and workflows. Create once, use everywhere.</a:t>
            </a:r>
          </a:p>
          <a:p>
            <a:pPr>
              <a:buClrTx/>
            </a:pPr>
            <a:r>
              <a:rPr lang="en-US" dirty="0"/>
              <a:t>Codex loads skills dynamically to improve performance on specialized tasks.</a:t>
            </a:r>
          </a:p>
          <a:p>
            <a:r>
              <a:rPr lang="en-US" dirty="0"/>
              <a:t>Every Skill requires a SKILL.md file. </a:t>
            </a:r>
          </a:p>
          <a:p>
            <a:r>
              <a:rPr lang="en-US" dirty="0"/>
              <a:t>Note that on the top of each SKILL.md file, there is metadata that describes what the skill does which includes name and description.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B1AE7A-BB0C-D9BA-9A0F-0E74F409E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83" y="3016086"/>
            <a:ext cx="9781297" cy="3435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00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A2B1E-18FC-4AA6-B25F-972C6A66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5DA7F8-472E-1EFD-2BD3-0E138248B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9B1A5E-89E6-ED2E-80E1-BCC23F0D45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315FA85-FA1A-E995-64FA-77386358B8B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Skills 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FC58B-B69E-FE8C-F725-A99CBA50270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39D5ABF-B61E-9960-E152-B27D42328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66" y="1080645"/>
            <a:ext cx="8514945" cy="42804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1D5622C-95B2-437A-B466-1EF6A764E66D}"/>
              </a:ext>
            </a:extLst>
          </p:cNvPr>
          <p:cNvSpPr txBox="1"/>
          <p:nvPr/>
        </p:nvSpPr>
        <p:spPr>
          <a:xfrm>
            <a:off x="6549361" y="1067237"/>
            <a:ext cx="49528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https://skills.sh/</a:t>
            </a:r>
            <a:endParaRPr lang="en-CA" sz="2000" dirty="0">
              <a:solidFill>
                <a:schemeClr val="bg1"/>
              </a:solidFill>
            </a:endParaRPr>
          </a:p>
          <a:p>
            <a:endParaRPr lang="en-CA" sz="2000" dirty="0">
              <a:solidFill>
                <a:schemeClr val="bg2"/>
              </a:solidFill>
            </a:endParaRPr>
          </a:p>
          <a:p>
            <a:endParaRPr lang="en-CA" sz="2000" dirty="0">
              <a:solidFill>
                <a:schemeClr val="bg2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DD0CAC2-87D1-2904-82EA-789E1C247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4423" y="1984615"/>
            <a:ext cx="6939064" cy="378458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547CE59-F8AF-D460-C48A-BF8857673361}"/>
              </a:ext>
            </a:extLst>
          </p:cNvPr>
          <p:cNvSpPr txBox="1"/>
          <p:nvPr/>
        </p:nvSpPr>
        <p:spPr>
          <a:xfrm>
            <a:off x="7163418" y="2141176"/>
            <a:ext cx="38980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rgbClr val="02291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https://www.skillhub.club/</a:t>
            </a:r>
            <a:endParaRPr lang="en-CA" sz="2000" dirty="0">
              <a:solidFill>
                <a:srgbClr val="022911"/>
              </a:solidFill>
            </a:endParaRPr>
          </a:p>
          <a:p>
            <a:endParaRPr lang="en-CA" sz="2000" dirty="0">
              <a:solidFill>
                <a:srgbClr val="02291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7EBC53-5776-8E5D-4A76-03F5BB74F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5B9D76-D374-5D49-FFDC-0559DE011E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3015" y="3183062"/>
            <a:ext cx="6389084" cy="354268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3C1F8D8-DB43-1328-83F9-9A08668A2981}"/>
              </a:ext>
            </a:extLst>
          </p:cNvPr>
          <p:cNvSpPr txBox="1"/>
          <p:nvPr/>
        </p:nvSpPr>
        <p:spPr>
          <a:xfrm>
            <a:off x="7609527" y="3465082"/>
            <a:ext cx="42194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rgbClr val="02291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https://github.com/openai/skills/tree/main/skills/.curated</a:t>
            </a:r>
            <a:endParaRPr lang="en-CA" sz="2000" dirty="0">
              <a:solidFill>
                <a:srgbClr val="022911"/>
              </a:solidFill>
            </a:endParaRPr>
          </a:p>
          <a:p>
            <a:endParaRPr lang="en-CA" sz="2000" dirty="0"/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73086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31561-4E21-7671-C40D-BF7079085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ED2304-6C1B-B7C4-4C44-7BFE2A8A1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A0A2EB-6C96-B07F-05AD-357EBFB3FE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828E3EF-5B57-9E97-1212-0AB9F9B6DE5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Skills 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A0087B-697B-453A-4420-BCB5948CBB8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5BA997-4AE3-9B50-3632-52D0115B1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72868F-1A4B-93A3-3FFA-65D9EB4B9D55}"/>
              </a:ext>
            </a:extLst>
          </p:cNvPr>
          <p:cNvSpPr txBox="1"/>
          <p:nvPr/>
        </p:nvSpPr>
        <p:spPr>
          <a:xfrm>
            <a:off x="139689" y="869700"/>
            <a:ext cx="11749731" cy="1291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 sz="1350"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Tx/>
            </a:pPr>
            <a:endParaRPr lang="en-US" sz="18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18F464A2-FDBC-BEB3-1E50-7DD0280BA9FF}"/>
              </a:ext>
            </a:extLst>
          </p:cNvPr>
          <p:cNvSpPr/>
          <p:nvPr/>
        </p:nvSpPr>
        <p:spPr>
          <a:xfrm>
            <a:off x="1665083" y="166197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8CA9CA5-D555-1745-B51C-ADDCFADCFD33}"/>
              </a:ext>
            </a:extLst>
          </p:cNvPr>
          <p:cNvSpPr/>
          <p:nvPr/>
        </p:nvSpPr>
        <p:spPr>
          <a:xfrm>
            <a:off x="725283" y="1674600"/>
            <a:ext cx="3180080" cy="33249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EEBBA0D-FF8A-589D-B427-09A7CF9E5935}"/>
              </a:ext>
            </a:extLst>
          </p:cNvPr>
          <p:cNvSpPr/>
          <p:nvPr/>
        </p:nvSpPr>
        <p:spPr>
          <a:xfrm>
            <a:off x="1230260" y="2820906"/>
            <a:ext cx="24599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Built-in Skills</a:t>
            </a:r>
            <a:endParaRPr lang="en-US" sz="28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4DA697C0-01D9-550F-2F2A-A073C2F25B52}"/>
              </a:ext>
            </a:extLst>
          </p:cNvPr>
          <p:cNvSpPr/>
          <p:nvPr/>
        </p:nvSpPr>
        <p:spPr>
          <a:xfrm>
            <a:off x="1734910" y="4930326"/>
            <a:ext cx="2540332" cy="370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1795A8E8-7CF5-85A2-EF97-A14F7B3568D4}"/>
              </a:ext>
            </a:extLst>
          </p:cNvPr>
          <p:cNvSpPr/>
          <p:nvPr/>
        </p:nvSpPr>
        <p:spPr>
          <a:xfrm>
            <a:off x="1734910" y="520464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6963715-C719-669B-1CF5-8E0736AE51F1}"/>
              </a:ext>
            </a:extLst>
          </p:cNvPr>
          <p:cNvSpPr/>
          <p:nvPr/>
        </p:nvSpPr>
        <p:spPr>
          <a:xfrm>
            <a:off x="1734910" y="547896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6A33FC2B-E594-E535-8581-61EC8BEFF5F8}"/>
              </a:ext>
            </a:extLst>
          </p:cNvPr>
          <p:cNvSpPr/>
          <p:nvPr/>
        </p:nvSpPr>
        <p:spPr>
          <a:xfrm>
            <a:off x="1952288" y="528724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34609753-E064-D65F-C2FE-6BB28056A4CD}"/>
              </a:ext>
            </a:extLst>
          </p:cNvPr>
          <p:cNvSpPr/>
          <p:nvPr/>
        </p:nvSpPr>
        <p:spPr>
          <a:xfrm>
            <a:off x="4225403" y="1674600"/>
            <a:ext cx="3017520" cy="33249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30" name="Image 5" descr="preencoded.png">
            <a:extLst>
              <a:ext uri="{FF2B5EF4-FFF2-40B4-BE49-F238E27FC236}">
                <a16:creationId xmlns:a16="http://schemas.microsoft.com/office/drawing/2014/main" id="{AE58A96D-5A3C-A4AC-320B-68EAB2162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774" y="1845827"/>
            <a:ext cx="719348" cy="719348"/>
          </a:xfrm>
          <a:prstGeom prst="rect">
            <a:avLst/>
          </a:prstGeom>
        </p:spPr>
      </p:pic>
      <p:sp>
        <p:nvSpPr>
          <p:cNvPr id="31" name="Text 13">
            <a:extLst>
              <a:ext uri="{FF2B5EF4-FFF2-40B4-BE49-F238E27FC236}">
                <a16:creationId xmlns:a16="http://schemas.microsoft.com/office/drawing/2014/main" id="{075BF071-C585-74FF-20FC-C76901D07C8E}"/>
              </a:ext>
            </a:extLst>
          </p:cNvPr>
          <p:cNvSpPr/>
          <p:nvPr/>
        </p:nvSpPr>
        <p:spPr>
          <a:xfrm>
            <a:off x="4522454" y="2835461"/>
            <a:ext cx="2713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Custom Skills</a:t>
            </a:r>
            <a:endParaRPr lang="en-US" sz="28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CD6E3011-100B-043A-6D8C-3BAA1598FE29}"/>
              </a:ext>
            </a:extLst>
          </p:cNvPr>
          <p:cNvSpPr/>
          <p:nvPr/>
        </p:nvSpPr>
        <p:spPr>
          <a:xfrm>
            <a:off x="5241380" y="511320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ABF711D3-0C32-605D-3455-9027A0E694FD}"/>
              </a:ext>
            </a:extLst>
          </p:cNvPr>
          <p:cNvSpPr/>
          <p:nvPr/>
        </p:nvSpPr>
        <p:spPr>
          <a:xfrm>
            <a:off x="5241380" y="5433246"/>
            <a:ext cx="22682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B5A5C218-902E-D69E-3DCB-7D3FD0C4CA1B}"/>
              </a:ext>
            </a:extLst>
          </p:cNvPr>
          <p:cNvSpPr/>
          <p:nvPr/>
        </p:nvSpPr>
        <p:spPr>
          <a:xfrm>
            <a:off x="5458758" y="519580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D009A1F5-88A8-592D-8276-466666C13F90}"/>
              </a:ext>
            </a:extLst>
          </p:cNvPr>
          <p:cNvSpPr/>
          <p:nvPr/>
        </p:nvSpPr>
        <p:spPr>
          <a:xfrm>
            <a:off x="5458758" y="5470128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5C422014-F574-6D0A-3ABF-4198CC3F7FC1}"/>
              </a:ext>
            </a:extLst>
          </p:cNvPr>
          <p:cNvSpPr/>
          <p:nvPr/>
        </p:nvSpPr>
        <p:spPr>
          <a:xfrm>
            <a:off x="8019107" y="1690723"/>
            <a:ext cx="3206216" cy="3349973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pic>
        <p:nvPicPr>
          <p:cNvPr id="42" name="Image 10" descr="preencoded.png">
            <a:extLst>
              <a:ext uri="{FF2B5EF4-FFF2-40B4-BE49-F238E27FC236}">
                <a16:creationId xmlns:a16="http://schemas.microsoft.com/office/drawing/2014/main" id="{F957300C-1323-E965-818B-EBA8B842F02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435103" y="1768289"/>
            <a:ext cx="827720" cy="827720"/>
          </a:xfrm>
          <a:prstGeom prst="rect">
            <a:avLst/>
          </a:prstGeom>
        </p:spPr>
      </p:pic>
      <p:sp>
        <p:nvSpPr>
          <p:cNvPr id="43" name="Text 20">
            <a:extLst>
              <a:ext uri="{FF2B5EF4-FFF2-40B4-BE49-F238E27FC236}">
                <a16:creationId xmlns:a16="http://schemas.microsoft.com/office/drawing/2014/main" id="{DB07499C-2414-2F42-F18A-EB42331376CD}"/>
              </a:ext>
            </a:extLst>
          </p:cNvPr>
          <p:cNvSpPr/>
          <p:nvPr/>
        </p:nvSpPr>
        <p:spPr>
          <a:xfrm>
            <a:off x="8345616" y="2835461"/>
            <a:ext cx="26837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Partner Skills</a:t>
            </a:r>
            <a:endParaRPr lang="en-US" sz="28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FD650153-311D-8BEA-6FF0-AE08629CCA13}"/>
              </a:ext>
            </a:extLst>
          </p:cNvPr>
          <p:cNvSpPr/>
          <p:nvPr/>
        </p:nvSpPr>
        <p:spPr>
          <a:xfrm>
            <a:off x="9154464" y="5011623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6343F9C0-68FB-8A27-AC94-DA5910F00C2F}"/>
              </a:ext>
            </a:extLst>
          </p:cNvPr>
          <p:cNvSpPr/>
          <p:nvPr/>
        </p:nvSpPr>
        <p:spPr>
          <a:xfrm>
            <a:off x="9154464" y="5285943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48B4B910-D9C4-DE77-C3E6-31578C4DEF3B}"/>
              </a:ext>
            </a:extLst>
          </p:cNvPr>
          <p:cNvSpPr/>
          <p:nvPr/>
        </p:nvSpPr>
        <p:spPr>
          <a:xfrm>
            <a:off x="9371842" y="5094225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D94167A7-BC55-FDD6-D057-410922DF5EE2}"/>
              </a:ext>
            </a:extLst>
          </p:cNvPr>
          <p:cNvSpPr/>
          <p:nvPr/>
        </p:nvSpPr>
        <p:spPr>
          <a:xfrm>
            <a:off x="9371842" y="5368545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Montserrat" panose="00000500000000000000" pitchFamily="2" charset="0"/>
            </a:endParaRPr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EC1566D7-1B8F-71B6-863D-D852394E12F3}"/>
              </a:ext>
            </a:extLst>
          </p:cNvPr>
          <p:cNvSpPr/>
          <p:nvPr/>
        </p:nvSpPr>
        <p:spPr>
          <a:xfrm>
            <a:off x="1125333" y="3541483"/>
            <a:ext cx="2876550" cy="133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Excel spreadsheets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Word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PowerPoint decks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PDF processing</a:t>
            </a:r>
            <a:endParaRPr lang="en-US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50300769-83CC-2150-E870-5803F5FB7649}"/>
              </a:ext>
            </a:extLst>
          </p:cNvPr>
          <p:cNvSpPr/>
          <p:nvPr/>
        </p:nvSpPr>
        <p:spPr>
          <a:xfrm>
            <a:off x="4405012" y="3285422"/>
            <a:ext cx="2876550" cy="133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Create your 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Upload via Customize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Tailored to your needs</a:t>
            </a:r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AB71B90E-E6EF-E75A-6953-C385F6D4B30A}"/>
              </a:ext>
            </a:extLst>
          </p:cNvPr>
          <p:cNvSpPr/>
          <p:nvPr/>
        </p:nvSpPr>
        <p:spPr>
          <a:xfrm>
            <a:off x="8212468" y="3752856"/>
            <a:ext cx="3206215" cy="1338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Notion, Figma, Atlassian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Work with MCP connectors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Professionally built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Skills Directory</a:t>
            </a:r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</p:txBody>
      </p:sp>
      <p:pic>
        <p:nvPicPr>
          <p:cNvPr id="57" name="Image 4" descr="preencoded.png">
            <a:extLst>
              <a:ext uri="{FF2B5EF4-FFF2-40B4-BE49-F238E27FC236}">
                <a16:creationId xmlns:a16="http://schemas.microsoft.com/office/drawing/2014/main" id="{549EF195-6400-84B4-8869-6D2B023C3CB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881143" y="1753500"/>
            <a:ext cx="812640" cy="81264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695E6806-2886-386F-2198-434BE0C21CA0}"/>
              </a:ext>
            </a:extLst>
          </p:cNvPr>
          <p:cNvSpPr txBox="1"/>
          <p:nvPr/>
        </p:nvSpPr>
        <p:spPr>
          <a:xfrm>
            <a:off x="261009" y="1021846"/>
            <a:ext cx="11387469" cy="1291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 sz="1350"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buClrTx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8464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23" grpId="0" animBg="1"/>
      <p:bldP spid="28" grpId="0" animBg="1"/>
      <p:bldP spid="31" grpId="0" animBg="1"/>
      <p:bldP spid="33" grpId="0" animBg="1"/>
      <p:bldP spid="35" grpId="0" animBg="1"/>
      <p:bldP spid="40" grpId="0" animBg="1"/>
      <p:bldP spid="43" grpId="0" animBg="1"/>
      <p:bldP spid="45" grpId="0" animBg="1"/>
      <p:bldP spid="47" grpId="0" animBg="1"/>
      <p:bldP spid="54" grpId="0" animBg="1"/>
      <p:bldP spid="55" grpId="0" animBg="1"/>
      <p:bldP spid="5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FFE83-9A2B-C88F-8CA8-6120155F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D4E6AA-D360-299B-1A8E-660E71E2E0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F312D4-1433-6592-D1C8-B1955713A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9FD712B-209E-4AB5-978D-B430EB8699F9}"/>
              </a:ext>
            </a:extLst>
          </p:cNvPr>
          <p:cNvSpPr/>
          <p:nvPr/>
        </p:nvSpPr>
        <p:spPr>
          <a:xfrm>
            <a:off x="293914" y="793804"/>
            <a:ext cx="55785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PRACTICAL PROJECT: CODEX AGENT SKILLS</a:t>
            </a:r>
          </a:p>
        </p:txBody>
      </p:sp>
    </p:spTree>
    <p:extLst>
      <p:ext uri="{BB962C8B-B14F-4D97-AF65-F5344CB8AC3E}">
        <p14:creationId xmlns:p14="http://schemas.microsoft.com/office/powerpoint/2010/main" val="4136896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Project</a:t>
            </a:r>
            <a:r>
              <a:rPr sz="2400" dirty="0">
                <a:solidFill>
                  <a:schemeClr val="bg1"/>
                </a:solidFill>
                <a:latin typeface="Montserrat" charset="0"/>
              </a:rPr>
              <a:t>: </a:t>
            </a:r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Agents Skill</a:t>
            </a:r>
            <a:endParaRPr sz="2400" dirty="0">
              <a:solidFill>
                <a:schemeClr val="bg1"/>
              </a:solidFill>
              <a:latin typeface="Montserrat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987083"/>
            <a:ext cx="11155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</a:lstStyle>
          <a:p>
            <a:r>
              <a:rPr dirty="0"/>
              <a:t>The Problem: </a:t>
            </a:r>
            <a:r>
              <a:rPr lang="en-CA" dirty="0"/>
              <a:t>Codex</a:t>
            </a:r>
            <a:r>
              <a:rPr dirty="0"/>
              <a:t> is powerful but generic out of the box</a:t>
            </a:r>
            <a:endParaRPr lang="en-CA" dirty="0"/>
          </a:p>
          <a:p>
            <a:r>
              <a:rPr lang="en-US" dirty="0"/>
              <a:t>Skills add specialized capabilities (presentations, Excel, PDF, and more)</a:t>
            </a:r>
          </a:p>
          <a:p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365760" y="1965960"/>
            <a:ext cx="5120640" cy="292608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25400">
            <a:solidFill>
              <a:srgbClr val="D56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D56E48"/>
                </a:solidFill>
                <a:latin typeface="Montserrat"/>
              </a:defRPr>
            </a:pPr>
            <a:r>
              <a:rPr dirty="0"/>
              <a:t>WITHOUT </a:t>
            </a:r>
            <a:r>
              <a:rPr lang="en-CA" dirty="0"/>
              <a:t>SKILL</a:t>
            </a:r>
            <a:r>
              <a:rPr dirty="0"/>
              <a:t> (</a:t>
            </a:r>
            <a:r>
              <a:rPr lang="en-CA" dirty="0"/>
              <a:t>V</a:t>
            </a:r>
            <a:r>
              <a:rPr dirty="0"/>
              <a:t>1)</a:t>
            </a:r>
          </a:p>
          <a:p>
            <a:pPr algn="ctr">
              <a:spcBef>
                <a:spcPts val="400"/>
              </a:spcBef>
              <a:defRPr sz="400" b="0">
                <a:solidFill>
                  <a:srgbClr val="333333"/>
                </a:solidFill>
                <a:latin typeface="Montserrat"/>
              </a:defRPr>
            </a:pPr>
            <a:endParaRPr dirty="0"/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Bullet-heavy slides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Default fonts, no hierarchy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Charts dumped without context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Every slide looks the same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Walls of 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23560" y="3154680"/>
            <a:ext cx="457200" cy="411480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120640" cy="2926080"/>
          </a:xfrm>
          <a:prstGeom prst="roundRect">
            <a:avLst>
              <a:gd name="adj" fmla="val 5000"/>
            </a:avLst>
          </a:prstGeom>
          <a:solidFill>
            <a:schemeClr val="bg1">
              <a:lumMod val="95000"/>
            </a:schemeClr>
          </a:solidFill>
          <a:ln w="2540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rPr dirty="0"/>
              <a:t>WITH </a:t>
            </a:r>
            <a:r>
              <a:rPr lang="en-CA" dirty="0"/>
              <a:t>SKILL</a:t>
            </a:r>
            <a:r>
              <a:rPr dirty="0"/>
              <a:t> (</a:t>
            </a:r>
            <a:r>
              <a:rPr lang="en-CA" dirty="0"/>
              <a:t>V</a:t>
            </a:r>
            <a:r>
              <a:rPr dirty="0"/>
              <a:t>2)</a:t>
            </a:r>
          </a:p>
          <a:p>
            <a:pPr algn="ctr">
              <a:spcBef>
                <a:spcPts val="400"/>
              </a:spcBef>
              <a:defRPr sz="400" b="0">
                <a:solidFill>
                  <a:srgbClr val="333333"/>
                </a:solidFill>
                <a:latin typeface="Montserrat"/>
              </a:defRPr>
            </a:pPr>
            <a:endParaRPr dirty="0"/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One insight per slide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Big hero numbers, proper layouts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Consistent color palette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Charts with annotations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dirty="0"/>
              <a:t>Designed infographic feel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495067-DF30-C0F1-A050-58C63F2D0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dirty="0">
                <a:solidFill>
                  <a:schemeClr val="bg1"/>
                </a:solidFill>
                <a:latin typeface="Montserrat" charset="0"/>
              </a:rPr>
              <a:t>The ppt-visual Skill</a:t>
            </a:r>
          </a:p>
        </p:txBody>
      </p:sp>
      <p:sp>
        <p:nvSpPr>
          <p:cNvPr id="5" name="TextBox 4"/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4855" y="1811562"/>
            <a:ext cx="6858000" cy="4389120"/>
          </a:xfrm>
          <a:prstGeom prst="roundRect">
            <a:avLst>
              <a:gd name="adj" fmla="val 5000"/>
            </a:avLst>
          </a:prstGeom>
          <a:solidFill>
            <a:srgbClr val="EAF7FA"/>
          </a:solidFill>
          <a:ln w="19050">
            <a:solidFill>
              <a:srgbClr val="6CCA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rPr sz="2000" dirty="0"/>
              <a:t>What It Teaches </a:t>
            </a:r>
            <a:r>
              <a:rPr lang="en-CA" sz="2000" dirty="0"/>
              <a:t>Codex</a:t>
            </a:r>
            <a:endParaRPr sz="2000" dirty="0"/>
          </a:p>
          <a:p>
            <a:pPr algn="ctr">
              <a:spcBef>
                <a:spcPts val="400"/>
              </a:spcBef>
              <a:defRPr sz="400" b="0">
                <a:solidFill>
                  <a:srgbClr val="333333"/>
                </a:solidFill>
                <a:latin typeface="Montserrat"/>
              </a:defRPr>
            </a:pPr>
            <a:endParaRPr sz="500" dirty="0"/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One idea per slide, visual hierarchy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Proper color palettes and typography pairings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Big hero numbers, split layouts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Charts with annotations and context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Whitespace as a design element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333333"/>
                </a:solidFill>
                <a:latin typeface="Montserrat"/>
              </a:defRPr>
            </a:pPr>
            <a:r>
              <a:rPr sz="1600" dirty="0"/>
              <a:t>Professional design principles baked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08614" y="1811562"/>
            <a:ext cx="3840480" cy="4389120"/>
          </a:xfrm>
          <a:prstGeom prst="roundRect">
            <a:avLst>
              <a:gd name="adj" fmla="val 5000"/>
            </a:avLst>
          </a:prstGeom>
          <a:solidFill>
            <a:srgbClr val="E8EAF2"/>
          </a:solidFill>
          <a:ln w="19050">
            <a:solidFill>
              <a:srgbClr val="0C17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0C1752"/>
                </a:solidFill>
                <a:latin typeface="Montserrat"/>
              </a:defRPr>
            </a:pPr>
            <a:r>
              <a:rPr sz="2000" dirty="0"/>
              <a:t>How to Install</a:t>
            </a:r>
          </a:p>
          <a:p>
            <a:pPr algn="ctr">
              <a:spcBef>
                <a:spcPts val="400"/>
              </a:spcBef>
              <a:defRPr sz="400" b="0">
                <a:solidFill>
                  <a:srgbClr val="333333"/>
                </a:solidFill>
                <a:latin typeface="Montserrat"/>
              </a:defRPr>
            </a:pPr>
            <a:endParaRPr sz="500" dirty="0"/>
          </a:p>
          <a:p>
            <a:pPr algn="ctr">
              <a:spcBef>
                <a:spcPts val="400"/>
              </a:spcBef>
              <a:defRPr sz="1300" b="1">
                <a:solidFill>
                  <a:srgbClr val="333333"/>
                </a:solidFill>
                <a:latin typeface="Montserrat"/>
              </a:defRPr>
            </a:pPr>
            <a:r>
              <a:rPr sz="1400" dirty="0"/>
              <a:t>1. Download SKILL.md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333333"/>
                </a:solidFill>
                <a:latin typeface="Montserrat"/>
              </a:defRPr>
            </a:pPr>
            <a:r>
              <a:rPr sz="1400" dirty="0"/>
              <a:t>   from GitHub repo</a:t>
            </a:r>
          </a:p>
          <a:p>
            <a:pPr algn="ctr">
              <a:spcBef>
                <a:spcPts val="400"/>
              </a:spcBef>
              <a:defRPr sz="400" b="0">
                <a:solidFill>
                  <a:srgbClr val="333333"/>
                </a:solidFill>
                <a:latin typeface="Montserrat"/>
              </a:defRPr>
            </a:pPr>
            <a:endParaRPr sz="500" dirty="0"/>
          </a:p>
          <a:p>
            <a:pPr algn="ctr">
              <a:spcBef>
                <a:spcPts val="400"/>
              </a:spcBef>
              <a:defRPr sz="1300" b="1">
                <a:solidFill>
                  <a:srgbClr val="333333"/>
                </a:solidFill>
                <a:latin typeface="Montserrat"/>
              </a:defRPr>
            </a:pPr>
            <a:r>
              <a:rPr sz="1400" dirty="0"/>
              <a:t>2. Upload into </a:t>
            </a:r>
            <a:r>
              <a:rPr lang="en-CA" sz="1400" dirty="0"/>
              <a:t>Codex</a:t>
            </a:r>
            <a:endParaRPr sz="1400" dirty="0"/>
          </a:p>
          <a:p>
            <a:pPr algn="ctr">
              <a:spcBef>
                <a:spcPts val="400"/>
              </a:spcBef>
              <a:defRPr sz="1200" b="0">
                <a:solidFill>
                  <a:srgbClr val="333333"/>
                </a:solidFill>
                <a:latin typeface="Montserrat"/>
              </a:defRPr>
            </a:pPr>
            <a:r>
              <a:rPr lang="en-CA" sz="1400" dirty="0"/>
              <a:t>Use the </a:t>
            </a:r>
            <a:r>
              <a:rPr sz="1400" dirty="0"/>
              <a:t>Create Skill</a:t>
            </a:r>
            <a:r>
              <a:rPr lang="en-CA" sz="1400" dirty="0"/>
              <a:t>-installer skill to download the ppt-visual skill</a:t>
            </a:r>
            <a:endParaRPr sz="1400" dirty="0"/>
          </a:p>
          <a:p>
            <a:pPr algn="ctr">
              <a:spcBef>
                <a:spcPts val="400"/>
              </a:spcBef>
              <a:defRPr sz="400" b="0">
                <a:solidFill>
                  <a:srgbClr val="333333"/>
                </a:solidFill>
                <a:latin typeface="Montserrat"/>
              </a:defRPr>
            </a:pPr>
            <a:endParaRPr sz="500" dirty="0"/>
          </a:p>
          <a:p>
            <a:pPr algn="ctr">
              <a:spcBef>
                <a:spcPts val="400"/>
              </a:spcBef>
              <a:defRPr sz="1300" b="1">
                <a:solidFill>
                  <a:srgbClr val="333333"/>
                </a:solidFill>
                <a:latin typeface="Montserrat"/>
              </a:defRPr>
            </a:pPr>
            <a:r>
              <a:rPr sz="1400" dirty="0"/>
              <a:t>3. Verify</a:t>
            </a:r>
          </a:p>
          <a:p>
            <a:pPr algn="ctr">
              <a:spcBef>
                <a:spcPts val="400"/>
              </a:spcBef>
              <a:defRPr sz="1200" b="0">
                <a:solidFill>
                  <a:srgbClr val="333333"/>
                </a:solidFill>
                <a:latin typeface="Montserrat"/>
              </a:defRPr>
            </a:pPr>
            <a:r>
              <a:rPr sz="1400" dirty="0"/>
              <a:t>   Skill appears in </a:t>
            </a:r>
            <a:r>
              <a:rPr lang="en-CA" sz="1400" dirty="0"/>
              <a:t>the </a:t>
            </a:r>
            <a:r>
              <a:rPr sz="1400" dirty="0"/>
              <a:t>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AEDF9-7A33-1D39-B5B2-F5F2F6E62CA2}"/>
              </a:ext>
            </a:extLst>
          </p:cNvPr>
          <p:cNvSpPr txBox="1"/>
          <p:nvPr/>
        </p:nvSpPr>
        <p:spPr>
          <a:xfrm>
            <a:off x="276763" y="921214"/>
            <a:ext cx="116585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Montserrat" panose="00000500000000000000" pitchFamily="2" charset="0"/>
              </a:rPr>
              <a:t>GitHub link: </a:t>
            </a:r>
            <a:r>
              <a:rPr lang="en-CA" dirty="0">
                <a:latin typeface="Montserrat" panose="00000500000000000000" pitchFamily="2" charset="0"/>
                <a:hlinkClick r:id="rId3"/>
              </a:rPr>
              <a:t>https://github.com/claude-office-skills/skills/blob/main/ppt-visual/</a:t>
            </a:r>
            <a:endParaRPr lang="en-CA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>
              <a:latin typeface="Montserrat" panose="000005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6363E9F-63E3-2FC4-45E6-C4B90ECA16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22A22-4D1F-1CB4-A3E8-3178A20C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cture_4.png">
            <a:extLst>
              <a:ext uri="{FF2B5EF4-FFF2-40B4-BE49-F238E27FC236}">
                <a16:creationId xmlns:a16="http://schemas.microsoft.com/office/drawing/2014/main" id="{E3DF62B2-0899-E229-ED46-549A0A351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06A740-4DA4-3A57-1532-9FE9D8C037D3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Montserrat" charset="0"/>
              </a:rPr>
              <a:t>Before and After</a:t>
            </a:r>
            <a:endParaRPr sz="2400" dirty="0">
              <a:solidFill>
                <a:schemeClr val="bg1"/>
              </a:solidFill>
              <a:latin typeface="Montserrat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3E3D2-F4ED-9FC2-FC24-2CCCA45D56A6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  <a:latin typeface="Arial"/>
              </a:defRPr>
            </a:pPr>
            <a:r>
              <a:t>© All rights reserved for Dr. Ryan Ahmed @Stemplicity Inc.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7B54E49-A613-9494-2EB0-FCB90C9C2B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3AE86E-6DAA-6377-15E2-B2A9E3078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474" y="914252"/>
            <a:ext cx="3140883" cy="55816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74257E-C54E-D1A4-DBAE-A4D95FE312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4593"/>
          <a:stretch>
            <a:fillRect/>
          </a:stretch>
        </p:blipFill>
        <p:spPr>
          <a:xfrm>
            <a:off x="6719828" y="889011"/>
            <a:ext cx="3140882" cy="560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85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5430</TotalTime>
  <Words>417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503</cp:revision>
  <dcterms:created xsi:type="dcterms:W3CDTF">2019-11-18T17:58:36Z</dcterms:created>
  <dcterms:modified xsi:type="dcterms:W3CDTF">2026-06-02T01:40:53Z</dcterms:modified>
</cp:coreProperties>
</file>