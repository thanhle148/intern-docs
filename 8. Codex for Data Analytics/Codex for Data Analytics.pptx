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565" r:id="rId2"/>
    <p:sldId id="4315" r:id="rId3"/>
    <p:sldId id="257" r:id="rId4"/>
    <p:sldId id="4317" r:id="rId5"/>
    <p:sldId id="258" r:id="rId6"/>
    <p:sldId id="4316" r:id="rId7"/>
    <p:sldId id="4214" r:id="rId8"/>
    <p:sldId id="4309" r:id="rId9"/>
    <p:sldId id="4318" r:id="rId10"/>
    <p:sldId id="4162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914" y="10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06E34B-6073-4927-ABC5-F18DC264E77C}" type="datetimeFigureOut">
              <a:rPr lang="en-CA" smtClean="0"/>
              <a:t>2026-06-14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CF3687-D87B-413A-9428-EC367D8878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0168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anthropics/knowledge-work-plugins" TargetMode="External"/><Relationship Id="rId5" Type="http://schemas.openxmlformats.org/officeDocument/2006/relationships/hyperlink" Target="https://claude.com/plugins#plugins" TargetMode="Externa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hyperlink" Target="https://www.skillhub.club/skills/different-ai-zero-finance-linkedin-post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F529F-B86A-83C8-478E-307AC3091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403872-6FAD-0F11-5844-575593A583D8}"/>
              </a:ext>
            </a:extLst>
          </p:cNvPr>
          <p:cNvSpPr/>
          <p:nvPr/>
        </p:nvSpPr>
        <p:spPr>
          <a:xfrm>
            <a:off x="293915" y="489004"/>
            <a:ext cx="474345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CODEX MASTERCLASS</a:t>
            </a:r>
            <a:endParaRPr lang="en-US" sz="2800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922CCA-AE82-A418-52D1-CBC82BEC1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11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F529F-B86A-83C8-478E-307AC3091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08595" cy="686374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403872-6FAD-0F11-5844-575593A583D8}"/>
              </a:ext>
            </a:extLst>
          </p:cNvPr>
          <p:cNvSpPr/>
          <p:nvPr/>
        </p:nvSpPr>
        <p:spPr>
          <a:xfrm>
            <a:off x="359229" y="238636"/>
            <a:ext cx="548498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CODEX FOR DATA ANALYTICS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922CCA-AE82-A418-52D1-CBC82BEC1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33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ct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  <a:latin typeface="Montserrat" charset="0"/>
              </a:rPr>
              <a:t>Project Overview</a:t>
            </a:r>
            <a:endParaRPr sz="2400" dirty="0">
              <a:solidFill>
                <a:schemeClr val="bg1"/>
              </a:solidFill>
              <a:latin typeface="Montserrat" charset="0"/>
            </a:endParaRPr>
          </a:p>
        </p:txBody>
      </p:sp>
      <p:sp>
        <p:nvSpPr>
          <p:cNvPr id="5" name="TextBox 4"/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Arial"/>
              </a:defRPr>
            </a:pPr>
            <a:r>
              <a:t>© All rights reserved for Dr. Ryan Ahmed @Stemplicity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722" y="923625"/>
            <a:ext cx="11155680" cy="5847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Montserrat" charset="0"/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Clr>
                <a:srgbClr val="11CCDD"/>
              </a:buClr>
              <a:buFont typeface="Arial" panose="020B0604020202020204" pitchFamily="34" charset="0"/>
              <a:buChar char="•"/>
              <a:defRPr sz="1600" b="1">
                <a:latin typeface="Montserrat" panose="00000500000000000000" pitchFamily="2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>
                <a:solidFill>
                  <a:schemeClr val="tx1"/>
                </a:solidFill>
              </a:rPr>
              <a:t>Sofia Martinez runs Lumen Pilates</a:t>
            </a:r>
            <a:r>
              <a:rPr lang="en-CA" sz="1600" dirty="0">
                <a:solidFill>
                  <a:schemeClr val="tx1"/>
                </a:solidFill>
              </a:rPr>
              <a:t> in t</a:t>
            </a:r>
            <a:r>
              <a:rPr sz="1600" dirty="0">
                <a:solidFill>
                  <a:schemeClr val="tx1"/>
                </a:solidFill>
              </a:rPr>
              <a:t>wo studios in Austin</a:t>
            </a:r>
            <a:r>
              <a:rPr lang="en-CA" sz="1600" dirty="0">
                <a:solidFill>
                  <a:schemeClr val="tx1"/>
                </a:solidFill>
              </a:rPr>
              <a:t>, she has </a:t>
            </a:r>
            <a:r>
              <a:rPr sz="1600" dirty="0">
                <a:solidFill>
                  <a:schemeClr val="tx1"/>
                </a:solidFill>
              </a:rPr>
              <a:t>months of messy CSV</a:t>
            </a:r>
            <a:r>
              <a:rPr lang="en-CA" sz="1600" dirty="0">
                <a:solidFill>
                  <a:schemeClr val="tx1"/>
                </a:solidFill>
              </a:rPr>
              <a:t> data and she wants to use Agentic AI capability to clean it up</a:t>
            </a:r>
            <a:r>
              <a:rPr sz="16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874519"/>
            <a:ext cx="6400800" cy="4114800"/>
          </a:xfrm>
          <a:prstGeom prst="roundRect">
            <a:avLst>
              <a:gd name="adj" fmla="val 5000"/>
            </a:avLst>
          </a:prstGeom>
          <a:solidFill>
            <a:srgbClr val="FDF0EA"/>
          </a:solidFill>
          <a:ln w="25400">
            <a:solidFill>
              <a:srgbClr val="D56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874519"/>
            <a:ext cx="6400800" cy="457200"/>
          </a:xfrm>
          <a:prstGeom prst="rect">
            <a:avLst/>
          </a:prstGeom>
          <a:solidFill>
            <a:srgbClr val="D56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l">
              <a:defRPr sz="1300" b="1">
                <a:solidFill>
                  <a:srgbClr val="FFFFFF"/>
                </a:solidFill>
                <a:latin typeface="Montserrat"/>
              </a:defRPr>
            </a:pPr>
            <a:r>
              <a:rPr lang="en-CA" dirty="0"/>
              <a:t>Scenario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05516" y="2514599"/>
            <a:ext cx="5852160" cy="1934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00B0F0"/>
              </a:buClr>
              <a:buFont typeface="Arial" panose="020B0604020202020204" pitchFamily="34" charset="0"/>
              <a:buChar char="•"/>
              <a:defRPr sz="1600">
                <a:latin typeface="Montserrat" panose="00000500000000000000" pitchFamily="2" charset="0"/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Clr>
                <a:srgbClr val="11CCDD"/>
              </a:buClr>
              <a:buFont typeface="Arial" panose="020B0604020202020204" pitchFamily="34" charset="0"/>
              <a:buChar char="•"/>
              <a:defRPr sz="1600" b="1">
                <a:latin typeface="Montserrat" panose="00000500000000000000" pitchFamily="2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buClrTx/>
            </a:pPr>
            <a:endParaRPr dirty="0"/>
          </a:p>
          <a:p>
            <a:pPr>
              <a:buClrTx/>
            </a:pPr>
            <a:r>
              <a:rPr dirty="0"/>
              <a:t>Front desk software exports a flat CSV every quarter.</a:t>
            </a:r>
          </a:p>
          <a:p>
            <a:pPr>
              <a:buClrTx/>
            </a:pPr>
            <a:r>
              <a:rPr dirty="0"/>
              <a:t>Dates </a:t>
            </a:r>
            <a:r>
              <a:rPr lang="en-CA" dirty="0"/>
              <a:t>are </a:t>
            </a:r>
            <a:r>
              <a:rPr dirty="0"/>
              <a:t>in three different formats</a:t>
            </a:r>
            <a:r>
              <a:rPr lang="en-CA" dirty="0"/>
              <a:t>, and naming conventions are inconsistent. </a:t>
            </a:r>
          </a:p>
          <a:p>
            <a:pPr>
              <a:buClrTx/>
            </a:pPr>
            <a:r>
              <a:rPr dirty="0"/>
              <a:t>Same class spelled three different ways.</a:t>
            </a:r>
          </a:p>
          <a:p>
            <a:pPr>
              <a:buClrTx/>
            </a:pPr>
            <a:r>
              <a:rPr dirty="0"/>
              <a:t>Members churn quietly. Time slots run half empty.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874519"/>
            <a:ext cx="4480560" cy="4114800"/>
          </a:xfrm>
          <a:prstGeom prst="roundRect">
            <a:avLst>
              <a:gd name="adj" fmla="val 5000"/>
            </a:avLst>
          </a:prstGeom>
          <a:solidFill>
            <a:srgbClr val="E8EAF2"/>
          </a:solidFill>
          <a:ln w="25400">
            <a:solidFill>
              <a:srgbClr val="0C1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949440" y="1874519"/>
            <a:ext cx="4480560" cy="457200"/>
          </a:xfrm>
          <a:prstGeom prst="rect">
            <a:avLst/>
          </a:prstGeom>
          <a:solidFill>
            <a:srgbClr val="0C1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l">
              <a:defRPr sz="1300" b="1">
                <a:solidFill>
                  <a:srgbClr val="FFFFFF"/>
                </a:solidFill>
                <a:latin typeface="Montserrat"/>
              </a:defRPr>
            </a:pPr>
            <a:r>
              <a:rPr dirty="0"/>
              <a:t>What Sofia wants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514599"/>
            <a:ext cx="3931920" cy="3383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00B0F0"/>
              </a:buClr>
              <a:buFont typeface="Arial" panose="020B0604020202020204" pitchFamily="34" charset="0"/>
              <a:buChar char="•"/>
              <a:defRPr sz="1600">
                <a:latin typeface="Montserrat" panose="00000500000000000000" pitchFamily="2" charset="0"/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Clr>
                <a:srgbClr val="11CCDD"/>
              </a:buClr>
              <a:buFont typeface="Arial" panose="020B0604020202020204" pitchFamily="34" charset="0"/>
              <a:buChar char="•"/>
              <a:defRPr sz="1600" b="1">
                <a:latin typeface="Montserrat" panose="00000500000000000000" pitchFamily="2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buClrTx/>
            </a:pPr>
            <a:endParaRPr dirty="0"/>
          </a:p>
          <a:p>
            <a:pPr>
              <a:buClrTx/>
            </a:pPr>
            <a:r>
              <a:rPr lang="en-CA" dirty="0"/>
              <a:t>Sofia wants this </a:t>
            </a:r>
            <a:r>
              <a:rPr lang="en-CA" dirty="0" err="1"/>
              <a:t>i</a:t>
            </a:r>
            <a:r>
              <a:rPr dirty="0"/>
              <a:t>n plain language:</a:t>
            </a:r>
          </a:p>
          <a:p>
            <a:pPr lvl="1">
              <a:buClrTx/>
            </a:pPr>
            <a:r>
              <a:rPr b="0" dirty="0"/>
              <a:t>Who is at risk of churning</a:t>
            </a:r>
            <a:r>
              <a:rPr lang="en-CA" b="0" dirty="0"/>
              <a:t>, so we can </a:t>
            </a:r>
            <a:r>
              <a:rPr b="0" dirty="0"/>
              <a:t>call them.</a:t>
            </a:r>
          </a:p>
          <a:p>
            <a:pPr lvl="1">
              <a:buClrTx/>
            </a:pPr>
            <a:r>
              <a:rPr b="0" dirty="0"/>
              <a:t>Which classes drive revenue.</a:t>
            </a:r>
          </a:p>
          <a:p>
            <a:pPr lvl="1">
              <a:buClrTx/>
            </a:pPr>
            <a:r>
              <a:rPr b="0" dirty="0"/>
              <a:t>Which time slots underperform.</a:t>
            </a:r>
          </a:p>
          <a:p>
            <a:pPr lvl="1">
              <a:buClrTx/>
            </a:pPr>
            <a:r>
              <a:rPr b="0" dirty="0"/>
              <a:t>Dashboard and one-page summary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1AA31EA-69BF-DBDD-9966-839058C62C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 animBg="1"/>
      <p:bldP spid="11" grpId="0" animBg="1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E23DF-8B63-619E-16D8-07EB5FACD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cture_4.png">
            <a:extLst>
              <a:ext uri="{FF2B5EF4-FFF2-40B4-BE49-F238E27FC236}">
                <a16:creationId xmlns:a16="http://schemas.microsoft.com/office/drawing/2014/main" id="{DE6A6FB7-6134-3987-1318-3245416C9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C1D90E-028B-0A42-EECE-32F67382443D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  <a:latin typeface="Montserrat" charset="0"/>
              </a:rPr>
              <a:t>Dataset overview</a:t>
            </a:r>
            <a:endParaRPr sz="2400" dirty="0">
              <a:solidFill>
                <a:schemeClr val="bg1"/>
              </a:solidFill>
              <a:latin typeface="Montserrat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49A7DB-C2A6-1979-B80F-C50D0806B46E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Arial"/>
              </a:defRPr>
            </a:pPr>
            <a:r>
              <a:t>© All rights reserved for Dr. Ryan Ahmed @Stemplicity Inc.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B8C5524-9529-F604-E940-CE3FFA9E31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5B0657C-ADF0-BDAC-CE47-89CE416D6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825" y="1393736"/>
            <a:ext cx="9658350" cy="453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476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ct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  <a:latin typeface="Montserrat" charset="0"/>
              </a:rPr>
              <a:t>Project Steps</a:t>
            </a:r>
            <a:endParaRPr sz="2400" dirty="0">
              <a:solidFill>
                <a:schemeClr val="bg1"/>
              </a:solidFill>
              <a:latin typeface="Montserrat" charset="0"/>
            </a:endParaRPr>
          </a:p>
        </p:txBody>
      </p:sp>
      <p:sp>
        <p:nvSpPr>
          <p:cNvPr id="5" name="TextBox 4"/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Arial"/>
              </a:defRPr>
            </a:pPr>
            <a:r>
              <a:rPr dirty="0"/>
              <a:t>© All rights reserved for Dr. Ryan Ahmed @Stemplicity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50" y="865750"/>
            <a:ext cx="11155680" cy="3231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1600">
                <a:latin typeface="Montserrat" charset="0"/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Clr>
                <a:srgbClr val="11CCDD"/>
              </a:buClr>
              <a:buFont typeface="Arial" panose="020B0604020202020204" pitchFamily="34" charset="0"/>
              <a:buChar char="•"/>
              <a:defRPr sz="1600" b="1">
                <a:latin typeface="Montserrat" panose="00000500000000000000" pitchFamily="2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dirty="0"/>
              <a:t>Codex has no built-in data skill. Anthropic already wrote one. </a:t>
            </a:r>
            <a:r>
              <a:rPr lang="en-CA" dirty="0"/>
              <a:t>Let’s borrow it!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79554" y="1738922"/>
            <a:ext cx="3593592" cy="4023360"/>
          </a:xfrm>
          <a:prstGeom prst="roundRect">
            <a:avLst>
              <a:gd name="adj" fmla="val 5000"/>
            </a:avLst>
          </a:prstGeom>
          <a:solidFill>
            <a:srgbClr val="EAF7FA"/>
          </a:solidFill>
          <a:ln w="25400">
            <a:solidFill>
              <a:srgbClr val="6C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3874" y="1994954"/>
            <a:ext cx="3044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CAD8"/>
                </a:solidFill>
                <a:latin typeface="Montserrat"/>
              </a:defRPr>
            </a:pPr>
            <a:r>
              <a:rPr dirty="0"/>
              <a:t>1. Find </a:t>
            </a:r>
            <a:r>
              <a:rPr lang="en-CA" dirty="0"/>
              <a:t>the Skill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353874" y="2653322"/>
            <a:ext cx="3044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ontserrat"/>
              </a:defRPr>
            </a:pPr>
            <a:r>
              <a:rPr dirty="0"/>
              <a:t>Anthropic publishes a public skills repo on GitHub. The data plugin sits inside.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4" y="3979202"/>
            <a:ext cx="30449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ontserrat"/>
              </a:defRPr>
            </a:pPr>
            <a:r>
              <a:t>data:explore-data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ontserrat"/>
              </a:defRPr>
            </a:pPr>
            <a:r>
              <a:t>data:analyze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ontserrat"/>
              </a:defRPr>
            </a:pPr>
            <a:r>
              <a:t>data:create-viz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ontserrat"/>
              </a:defRPr>
            </a:pPr>
            <a:r>
              <a:t>data:statistical-analysis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734854" y="3567722"/>
            <a:ext cx="380886" cy="292608"/>
          </a:xfrm>
          <a:prstGeom prst="rightArrow">
            <a:avLst/>
          </a:prstGeom>
          <a:solidFill>
            <a:srgbClr val="A0A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177448" y="1738922"/>
            <a:ext cx="3593592" cy="4023360"/>
          </a:xfrm>
          <a:prstGeom prst="roundRect">
            <a:avLst>
              <a:gd name="adj" fmla="val 5000"/>
            </a:avLst>
          </a:prstGeom>
          <a:solidFill>
            <a:srgbClr val="FDF0EA"/>
          </a:solidFill>
          <a:ln w="25400">
            <a:solidFill>
              <a:srgbClr val="D56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51768" y="1994954"/>
            <a:ext cx="3044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56E48"/>
                </a:solidFill>
                <a:latin typeface="Montserrat"/>
              </a:defRPr>
            </a:pPr>
            <a:r>
              <a:t>2. Read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1768" y="2653322"/>
            <a:ext cx="3044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ontserrat"/>
              </a:defRPr>
            </a:pPr>
            <a:r>
              <a:t>Point Codex at the repo. Let it read the SKILL.md files and summarize what they 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1768" y="3979202"/>
            <a:ext cx="30449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ontserrat"/>
              </a:defRPr>
            </a:pPr>
            <a:r>
              <a:rPr dirty="0"/>
              <a:t>@skill-creator </a:t>
            </a:r>
            <a:r>
              <a:rPr lang="en-CA" dirty="0"/>
              <a:t>will </a:t>
            </a:r>
            <a:r>
              <a:rPr dirty="0"/>
              <a:t>fetch the repo</a:t>
            </a:r>
            <a:r>
              <a:rPr lang="en-CA" dirty="0"/>
              <a:t> and create a skill file</a:t>
            </a:r>
            <a:endParaRPr dirty="0"/>
          </a:p>
        </p:txBody>
      </p:sp>
      <p:sp>
        <p:nvSpPr>
          <p:cNvPr id="18" name="Right Arrow 17"/>
          <p:cNvSpPr/>
          <p:nvPr/>
        </p:nvSpPr>
        <p:spPr>
          <a:xfrm>
            <a:off x="7833208" y="3566160"/>
            <a:ext cx="363028" cy="292608"/>
          </a:xfrm>
          <a:prstGeom prst="rightArrow">
            <a:avLst/>
          </a:prstGeom>
          <a:solidFill>
            <a:srgbClr val="A0A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09952" y="1737360"/>
            <a:ext cx="3593592" cy="4023360"/>
          </a:xfrm>
          <a:prstGeom prst="roundRect">
            <a:avLst>
              <a:gd name="adj" fmla="val 5000"/>
            </a:avLst>
          </a:prstGeom>
          <a:solidFill>
            <a:srgbClr val="E8EAF2"/>
          </a:solidFill>
          <a:ln w="25400">
            <a:solidFill>
              <a:srgbClr val="0C1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84272" y="1993392"/>
            <a:ext cx="3044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C1752"/>
                </a:solidFill>
                <a:latin typeface="Montserrat"/>
              </a:defRPr>
            </a:pPr>
            <a:r>
              <a:t>3. Adapt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4272" y="2651760"/>
            <a:ext cx="3044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ontserrat"/>
              </a:defRPr>
            </a:pPr>
            <a:r>
              <a:t>Install a local version scoped to Sofia's columns and the three questions she asked.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4272" y="3977640"/>
            <a:ext cx="30449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ontserrat"/>
              </a:defRPr>
            </a:pPr>
            <a:r>
              <a:rPr dirty="0"/>
              <a:t>.agents/skills/lumen-data/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ontserrat"/>
              </a:defRPr>
            </a:pPr>
            <a:r>
              <a:rPr dirty="0"/>
              <a:t>Knows the Lumen schema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ontserrat"/>
              </a:defRPr>
            </a:pPr>
            <a:r>
              <a:rPr dirty="0"/>
              <a:t>YAML frontmatter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ontserrat"/>
              </a:defRPr>
            </a:pPr>
            <a:r>
              <a:rPr dirty="0"/>
              <a:t>Auto-discovered on launch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08FAFB4-A030-BEBB-75EB-697D8ED18B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/>
      <p:bldP spid="11" grpId="0"/>
      <p:bldP spid="12" grpId="0" animBg="1"/>
      <p:bldP spid="13" grpId="0" animBg="1"/>
      <p:bldP spid="14" grpId="0"/>
      <p:bldP spid="16" grpId="0"/>
      <p:bldP spid="17" grpId="0"/>
      <p:bldP spid="18" grpId="0" animBg="1"/>
      <p:bldP spid="19" grpId="0" animBg="1"/>
      <p:bldP spid="20" grpId="0"/>
      <p:bldP spid="22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DF405-E5A7-6F11-AF3A-BBCBAEE16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F5DCA-1BBC-BB09-A553-F966857C27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0FFF4E-B894-4073-BF89-2A0556651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EB4205D-D1D0-9E20-89DE-99DD1099B146}"/>
              </a:ext>
            </a:extLst>
          </p:cNvPr>
          <p:cNvSpPr/>
          <p:nvPr/>
        </p:nvSpPr>
        <p:spPr>
          <a:xfrm>
            <a:off x="293914" y="793804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CLAUDE PLUGINS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3360C4-773F-66CB-A362-02205EE5F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837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B60EC-0163-2103-5D90-09CB50DB6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0C45C4-6C58-C9A0-6021-D2A51D5BA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FC2007-BFB1-3F3D-1F7D-9D9821F5F4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4C965D83-3C7F-0875-8ECA-3FB5EE28AE6D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Plugins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048C52-D724-B852-B30D-0F0B802B7B71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1600">
                <a:solidFill>
                  <a:srgbClr val="666666"/>
                </a:solidFill>
                <a:latin typeface="Arial"/>
              </a:defRPr>
            </a:lvl1pPr>
          </a:lstStyle>
          <a:p>
            <a:r>
              <a:rPr lang="en-US" dirty="0"/>
              <a:t>© All rights reserved for Dr. Ryan Ahmed @Stemplicity Inc.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374863-6FC5-EFD8-EBF2-D4040E6F9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711" y="803151"/>
            <a:ext cx="11480067" cy="792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04792" indent="-304792">
              <a:lnSpc>
                <a:spcPct val="90000"/>
              </a:lnSpc>
              <a:spcBef>
                <a:spcPts val="1333"/>
              </a:spcBef>
              <a:buClr>
                <a:srgbClr val="1BBFD1"/>
              </a:buClr>
              <a:buFont typeface="Arial" panose="020B0604020202020204" pitchFamily="34" charset="0"/>
              <a:buChar char="•"/>
            </a:pPr>
            <a:endParaRPr lang="en-US" altLang="en-US" dirty="0"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343430-9F44-FCBE-61EC-22F14C7BC4F6}"/>
              </a:ext>
            </a:extLst>
          </p:cNvPr>
          <p:cNvSpPr txBox="1"/>
          <p:nvPr/>
        </p:nvSpPr>
        <p:spPr>
          <a:xfrm>
            <a:off x="214711" y="907391"/>
            <a:ext cx="112152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Plugins bundle skills, connectors, slash commands &amp; sub-agents into one package for a specific job function. No technical knowledge required to create them.</a:t>
            </a:r>
            <a:endParaRPr lang="en-US" sz="1800" dirty="0">
              <a:latin typeface="Montserrat" panose="00000500000000000000" pitchFamily="2" charset="0"/>
            </a:endParaRPr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A57E931C-83DF-347A-1869-DE53CDFC1FAC}"/>
              </a:ext>
            </a:extLst>
          </p:cNvPr>
          <p:cNvSpPr/>
          <p:nvPr/>
        </p:nvSpPr>
        <p:spPr>
          <a:xfrm>
            <a:off x="688548" y="1892400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F172A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What's Inside a Plugin</a:t>
            </a:r>
            <a:endParaRPr lang="en-US" sz="24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4A5908F8-50E7-B624-4809-6652C8BC633E}"/>
              </a:ext>
            </a:extLst>
          </p:cNvPr>
          <p:cNvSpPr/>
          <p:nvPr/>
        </p:nvSpPr>
        <p:spPr>
          <a:xfrm>
            <a:off x="688548" y="2441040"/>
            <a:ext cx="512064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n-CA" sz="240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FB64E94E-323E-433D-961B-1EE72B5F126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71428" y="2526384"/>
            <a:ext cx="414528" cy="414528"/>
          </a:xfrm>
          <a:prstGeom prst="rect">
            <a:avLst/>
          </a:prstGeom>
        </p:spPr>
      </p:pic>
      <p:sp>
        <p:nvSpPr>
          <p:cNvPr id="31" name="Text 6">
            <a:extLst>
              <a:ext uri="{FF2B5EF4-FFF2-40B4-BE49-F238E27FC236}">
                <a16:creationId xmlns:a16="http://schemas.microsoft.com/office/drawing/2014/main" id="{6016D5B4-7FC2-52A8-DF6B-C2EC2E4CFF3E}"/>
              </a:ext>
            </a:extLst>
          </p:cNvPr>
          <p:cNvSpPr/>
          <p:nvPr/>
        </p:nvSpPr>
        <p:spPr>
          <a:xfrm>
            <a:off x="1481028" y="2465424"/>
            <a:ext cx="414528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C1752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Skills</a:t>
            </a:r>
            <a:r>
              <a:rPr lang="en-US" sz="14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467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 Specialized knowledge &amp; workflows</a:t>
            </a:r>
            <a:endParaRPr lang="en-US" sz="16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95E86DF4-58A8-4BEB-EC88-0894B987AE46}"/>
              </a:ext>
            </a:extLst>
          </p:cNvPr>
          <p:cNvSpPr/>
          <p:nvPr/>
        </p:nvSpPr>
        <p:spPr>
          <a:xfrm>
            <a:off x="688548" y="3148176"/>
            <a:ext cx="512064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n-CA" sz="240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33" name="Image 1" descr="preencoded.png">
            <a:extLst>
              <a:ext uri="{FF2B5EF4-FFF2-40B4-BE49-F238E27FC236}">
                <a16:creationId xmlns:a16="http://schemas.microsoft.com/office/drawing/2014/main" id="{2F43BA4C-F2A6-BE0D-611B-48A5CB3538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428" y="3233520"/>
            <a:ext cx="414528" cy="414528"/>
          </a:xfrm>
          <a:prstGeom prst="rect">
            <a:avLst/>
          </a:prstGeom>
        </p:spPr>
      </p:pic>
      <p:sp>
        <p:nvSpPr>
          <p:cNvPr id="34" name="Text 8">
            <a:extLst>
              <a:ext uri="{FF2B5EF4-FFF2-40B4-BE49-F238E27FC236}">
                <a16:creationId xmlns:a16="http://schemas.microsoft.com/office/drawing/2014/main" id="{97AD8013-1BA0-161C-955C-C59CA7C76F0B}"/>
              </a:ext>
            </a:extLst>
          </p:cNvPr>
          <p:cNvSpPr/>
          <p:nvPr/>
        </p:nvSpPr>
        <p:spPr>
          <a:xfrm>
            <a:off x="1481028" y="3172560"/>
            <a:ext cx="414528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C1752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Connectors (MCP)</a:t>
            </a:r>
            <a:r>
              <a:rPr lang="en-US" sz="14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467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 Link to Google Drive, Slack, etc.</a:t>
            </a:r>
            <a:endParaRPr lang="en-US" sz="16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F208EBE6-8227-8B1C-834A-32034879C016}"/>
              </a:ext>
            </a:extLst>
          </p:cNvPr>
          <p:cNvSpPr/>
          <p:nvPr/>
        </p:nvSpPr>
        <p:spPr>
          <a:xfrm>
            <a:off x="688548" y="3855312"/>
            <a:ext cx="512064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n-CA" sz="240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36" name="Image 2" descr="preencoded.png">
            <a:extLst>
              <a:ext uri="{FF2B5EF4-FFF2-40B4-BE49-F238E27FC236}">
                <a16:creationId xmlns:a16="http://schemas.microsoft.com/office/drawing/2014/main" id="{85718FE5-AF0E-E4CB-9BD5-8555B7F243FF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71428" y="3940656"/>
            <a:ext cx="414528" cy="414528"/>
          </a:xfrm>
          <a:prstGeom prst="rect">
            <a:avLst/>
          </a:prstGeom>
        </p:spPr>
      </p:pic>
      <p:sp>
        <p:nvSpPr>
          <p:cNvPr id="37" name="Text 10">
            <a:extLst>
              <a:ext uri="{FF2B5EF4-FFF2-40B4-BE49-F238E27FC236}">
                <a16:creationId xmlns:a16="http://schemas.microsoft.com/office/drawing/2014/main" id="{41AE5B17-42B6-7108-298F-4999EC7551FD}"/>
              </a:ext>
            </a:extLst>
          </p:cNvPr>
          <p:cNvSpPr/>
          <p:nvPr/>
        </p:nvSpPr>
        <p:spPr>
          <a:xfrm>
            <a:off x="1481028" y="3879696"/>
            <a:ext cx="414528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C1752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Slash Commands</a:t>
            </a:r>
            <a:r>
              <a:rPr lang="en-US" sz="14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467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  Quick-launch structured workflows</a:t>
            </a:r>
            <a:endParaRPr lang="en-US" sz="16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3E57111C-CF49-5576-0D75-B6ACDAED8B33}"/>
              </a:ext>
            </a:extLst>
          </p:cNvPr>
          <p:cNvSpPr/>
          <p:nvPr/>
        </p:nvSpPr>
        <p:spPr>
          <a:xfrm>
            <a:off x="688548" y="4562448"/>
            <a:ext cx="512064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n-CA" sz="240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39" name="Image 3" descr="preencoded.png">
            <a:extLst>
              <a:ext uri="{FF2B5EF4-FFF2-40B4-BE49-F238E27FC236}">
                <a16:creationId xmlns:a16="http://schemas.microsoft.com/office/drawing/2014/main" id="{0A3FDFB5-7DC5-2259-D49E-9CC934C643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428" y="4647792"/>
            <a:ext cx="414528" cy="414528"/>
          </a:xfrm>
          <a:prstGeom prst="rect">
            <a:avLst/>
          </a:prstGeom>
        </p:spPr>
      </p:pic>
      <p:sp>
        <p:nvSpPr>
          <p:cNvPr id="40" name="Text 12">
            <a:extLst>
              <a:ext uri="{FF2B5EF4-FFF2-40B4-BE49-F238E27FC236}">
                <a16:creationId xmlns:a16="http://schemas.microsoft.com/office/drawing/2014/main" id="{D663544D-8D44-D0F3-60C1-7C857446DA78}"/>
              </a:ext>
            </a:extLst>
          </p:cNvPr>
          <p:cNvSpPr/>
          <p:nvPr/>
        </p:nvSpPr>
        <p:spPr>
          <a:xfrm>
            <a:off x="1481028" y="4586832"/>
            <a:ext cx="414528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C1752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Sub-Agents</a:t>
            </a:r>
            <a:r>
              <a:rPr lang="en-US" sz="14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67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Specialized task executors</a:t>
            </a:r>
            <a:endParaRPr lang="en-US" sz="16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EEE0F908-8006-45F5-32C3-386841C3AA31}"/>
              </a:ext>
            </a:extLst>
          </p:cNvPr>
          <p:cNvSpPr/>
          <p:nvPr/>
        </p:nvSpPr>
        <p:spPr>
          <a:xfrm>
            <a:off x="6868534" y="1892400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F172A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Pre-Built Plugins</a:t>
            </a:r>
            <a:endParaRPr lang="en-US" sz="24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42" name="Image 4" descr="preencoded.png">
            <a:extLst>
              <a:ext uri="{FF2B5EF4-FFF2-40B4-BE49-F238E27FC236}">
                <a16:creationId xmlns:a16="http://schemas.microsoft.com/office/drawing/2014/main" id="{71A37600-892E-8960-E4E6-60E96A82819E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90454" y="2599536"/>
            <a:ext cx="304800" cy="304800"/>
          </a:xfrm>
          <a:prstGeom prst="rect">
            <a:avLst/>
          </a:prstGeom>
        </p:spPr>
      </p:pic>
      <p:sp>
        <p:nvSpPr>
          <p:cNvPr id="43" name="Text 14">
            <a:extLst>
              <a:ext uri="{FF2B5EF4-FFF2-40B4-BE49-F238E27FC236}">
                <a16:creationId xmlns:a16="http://schemas.microsoft.com/office/drawing/2014/main" id="{5572ED2E-F677-AC53-14C2-5BF122B3CCBE}"/>
              </a:ext>
            </a:extLst>
          </p:cNvPr>
          <p:cNvSpPr/>
          <p:nvPr/>
        </p:nvSpPr>
        <p:spPr>
          <a:xfrm>
            <a:off x="7478134" y="2562960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HR: People operations &amp; lifecycle</a:t>
            </a:r>
            <a:endParaRPr lang="en-US" sz="16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44" name="Image 5" descr="preencoded.png">
            <a:extLst>
              <a:ext uri="{FF2B5EF4-FFF2-40B4-BE49-F238E27FC236}">
                <a16:creationId xmlns:a16="http://schemas.microsoft.com/office/drawing/2014/main" id="{D6AAB6AC-931E-6827-2A69-6F38AF34E340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90454" y="3111600"/>
            <a:ext cx="304800" cy="304800"/>
          </a:xfrm>
          <a:prstGeom prst="rect">
            <a:avLst/>
          </a:prstGeom>
        </p:spPr>
      </p:pic>
      <p:sp>
        <p:nvSpPr>
          <p:cNvPr id="45" name="Text 15">
            <a:extLst>
              <a:ext uri="{FF2B5EF4-FFF2-40B4-BE49-F238E27FC236}">
                <a16:creationId xmlns:a16="http://schemas.microsoft.com/office/drawing/2014/main" id="{CBD7CA9D-9235-C37D-CACC-6386432E7D1C}"/>
              </a:ext>
            </a:extLst>
          </p:cNvPr>
          <p:cNvSpPr/>
          <p:nvPr/>
        </p:nvSpPr>
        <p:spPr>
          <a:xfrm>
            <a:off x="7478134" y="3075024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Design: UX, accessibility, critiques</a:t>
            </a:r>
            <a:endParaRPr lang="en-US" sz="16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46" name="Image 6" descr="preencoded.png">
            <a:extLst>
              <a:ext uri="{FF2B5EF4-FFF2-40B4-BE49-F238E27FC236}">
                <a16:creationId xmlns:a16="http://schemas.microsoft.com/office/drawing/2014/main" id="{788FB0BF-17CA-5E68-D24A-E50339002218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90454" y="3623664"/>
            <a:ext cx="304800" cy="304800"/>
          </a:xfrm>
          <a:prstGeom prst="rect">
            <a:avLst/>
          </a:prstGeom>
        </p:spPr>
      </p:pic>
      <p:sp>
        <p:nvSpPr>
          <p:cNvPr id="47" name="Text 16">
            <a:extLst>
              <a:ext uri="{FF2B5EF4-FFF2-40B4-BE49-F238E27FC236}">
                <a16:creationId xmlns:a16="http://schemas.microsoft.com/office/drawing/2014/main" id="{1A30E9F9-43FD-38A1-6FF1-5BE2ED760169}"/>
              </a:ext>
            </a:extLst>
          </p:cNvPr>
          <p:cNvSpPr/>
          <p:nvPr/>
        </p:nvSpPr>
        <p:spPr>
          <a:xfrm>
            <a:off x="7478134" y="3587088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Engineering: Standups, deploys, incidents</a:t>
            </a:r>
            <a:endParaRPr lang="en-US" sz="16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48" name="Image 7" descr="preencoded.png">
            <a:extLst>
              <a:ext uri="{FF2B5EF4-FFF2-40B4-BE49-F238E27FC236}">
                <a16:creationId xmlns:a16="http://schemas.microsoft.com/office/drawing/2014/main" id="{3631AB11-0AC8-8A76-0DF5-D0F9AACF5F7B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90454" y="4135728"/>
            <a:ext cx="304800" cy="304800"/>
          </a:xfrm>
          <a:prstGeom prst="rect">
            <a:avLst/>
          </a:prstGeom>
        </p:spPr>
      </p:pic>
      <p:sp>
        <p:nvSpPr>
          <p:cNvPr id="49" name="Text 17">
            <a:extLst>
              <a:ext uri="{FF2B5EF4-FFF2-40B4-BE49-F238E27FC236}">
                <a16:creationId xmlns:a16="http://schemas.microsoft.com/office/drawing/2014/main" id="{E38D4818-4252-BB46-784A-EBD53A11736C}"/>
              </a:ext>
            </a:extLst>
          </p:cNvPr>
          <p:cNvSpPr/>
          <p:nvPr/>
        </p:nvSpPr>
        <p:spPr>
          <a:xfrm>
            <a:off x="7478134" y="4099152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Operations: Runbooks, vendor evals</a:t>
            </a:r>
            <a:endParaRPr lang="en-US" sz="16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50" name="Image 8" descr="preencoded.png">
            <a:extLst>
              <a:ext uri="{FF2B5EF4-FFF2-40B4-BE49-F238E27FC236}">
                <a16:creationId xmlns:a16="http://schemas.microsoft.com/office/drawing/2014/main" id="{3C1B99E3-288E-821F-1378-E63AAD814AE1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90454" y="4647792"/>
            <a:ext cx="304800" cy="304800"/>
          </a:xfrm>
          <a:prstGeom prst="rect">
            <a:avLst/>
          </a:prstGeom>
        </p:spPr>
      </p:pic>
      <p:sp>
        <p:nvSpPr>
          <p:cNvPr id="51" name="Text 18">
            <a:extLst>
              <a:ext uri="{FF2B5EF4-FFF2-40B4-BE49-F238E27FC236}">
                <a16:creationId xmlns:a16="http://schemas.microsoft.com/office/drawing/2014/main" id="{6B4DB5B4-4BFA-8AAF-7041-84A7EAB4E264}"/>
              </a:ext>
            </a:extLst>
          </p:cNvPr>
          <p:cNvSpPr/>
          <p:nvPr/>
        </p:nvSpPr>
        <p:spPr>
          <a:xfrm>
            <a:off x="7478134" y="4611216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Finance: FP&amp;A, variance analysis</a:t>
            </a:r>
            <a:endParaRPr lang="en-US" sz="16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52" name="Image 9" descr="preencoded.png">
            <a:extLst>
              <a:ext uri="{FF2B5EF4-FFF2-40B4-BE49-F238E27FC236}">
                <a16:creationId xmlns:a16="http://schemas.microsoft.com/office/drawing/2014/main" id="{8C8B6F39-45B9-CCA8-D242-4D5FBEF587A9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90454" y="5159856"/>
            <a:ext cx="304800" cy="304800"/>
          </a:xfrm>
          <a:prstGeom prst="rect">
            <a:avLst/>
          </a:prstGeom>
        </p:spPr>
      </p:pic>
      <p:sp>
        <p:nvSpPr>
          <p:cNvPr id="53" name="Text 19">
            <a:extLst>
              <a:ext uri="{FF2B5EF4-FFF2-40B4-BE49-F238E27FC236}">
                <a16:creationId xmlns:a16="http://schemas.microsoft.com/office/drawing/2014/main" id="{3505D79B-D18D-713D-DB4B-310B46A78948}"/>
              </a:ext>
            </a:extLst>
          </p:cNvPr>
          <p:cNvSpPr/>
          <p:nvPr/>
        </p:nvSpPr>
        <p:spPr>
          <a:xfrm>
            <a:off x="7478134" y="5123280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Sales: Outreach, research, CRM</a:t>
            </a:r>
            <a:endParaRPr lang="en-US" sz="16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034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1" grpId="0" animBg="1"/>
      <p:bldP spid="32" grpId="0" animBg="1"/>
      <p:bldP spid="34" grpId="0" animBg="1"/>
      <p:bldP spid="35" grpId="0" animBg="1"/>
      <p:bldP spid="37" grpId="0" animBg="1"/>
      <p:bldP spid="38" grpId="0" animBg="1"/>
      <p:bldP spid="40" grpId="0" animBg="1"/>
      <p:bldP spid="41" grpId="0" animBg="1"/>
      <p:bldP spid="43" grpId="0" animBg="1"/>
      <p:bldP spid="45" grpId="0" animBg="1"/>
      <p:bldP spid="47" grpId="0" animBg="1"/>
      <p:bldP spid="49" grpId="0" animBg="1"/>
      <p:bldP spid="51" grpId="0" animBg="1"/>
      <p:bldP spid="5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DD842-F390-2AC5-FE71-52B494130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312D07-3E1F-5992-40C3-B485390BB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352691-848D-7E58-E313-08614C657A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587B0968-8CFF-E32C-5D71-AFBC258A7949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Available Claude Plugins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F0EF8B-0E7C-2C27-7326-659B2A726A8E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1600">
                <a:solidFill>
                  <a:srgbClr val="666666"/>
                </a:solidFill>
                <a:latin typeface="Arial"/>
              </a:defRPr>
            </a:lvl1pPr>
          </a:lstStyle>
          <a:p>
            <a:r>
              <a:rPr lang="en-US" dirty="0"/>
              <a:t>© All rights reserved for Dr. Ryan Ahmed @Stemplicity Inc.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3026E2-2336-5BD1-7DE7-1AC75F625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711" y="803151"/>
            <a:ext cx="11480067" cy="792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04792" indent="-304792">
              <a:lnSpc>
                <a:spcPct val="90000"/>
              </a:lnSpc>
              <a:spcBef>
                <a:spcPts val="1333"/>
              </a:spcBef>
              <a:buClr>
                <a:srgbClr val="1BBFD1"/>
              </a:buClr>
              <a:buFont typeface="Arial" panose="020B0604020202020204" pitchFamily="34" charset="0"/>
              <a:buChar char="•"/>
            </a:pPr>
            <a:endParaRPr lang="en-US" altLang="en-US" dirty="0">
              <a:latin typeface="Montserrat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7B0AE5-C6C4-9446-ED94-403104115A4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5E5E5C"/>
              </a:clrFrom>
              <a:clrTo>
                <a:srgbClr val="5E5E5C">
                  <a:alpha val="0"/>
                </a:srgbClr>
              </a:clrTo>
            </a:clrChange>
          </a:blip>
          <a:srcRect l="16813" t="13412" r="14554" b="12503"/>
          <a:stretch>
            <a:fillRect/>
          </a:stretch>
        </p:blipFill>
        <p:spPr>
          <a:xfrm>
            <a:off x="214711" y="2266121"/>
            <a:ext cx="4853314" cy="32364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906B46-ED83-7ACD-44B9-0ED3B1300C5B}"/>
              </a:ext>
            </a:extLst>
          </p:cNvPr>
          <p:cNvSpPr txBox="1"/>
          <p:nvPr/>
        </p:nvSpPr>
        <p:spPr>
          <a:xfrm>
            <a:off x="431358" y="981702"/>
            <a:ext cx="61105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hlinkClick r:id="rId5"/>
              </a:rPr>
              <a:t>https://claude.com/plugins#plugins</a:t>
            </a:r>
            <a:endParaRPr lang="en-CA" dirty="0"/>
          </a:p>
          <a:p>
            <a:r>
              <a:rPr lang="en-CA" dirty="0">
                <a:hlinkClick r:id="rId6"/>
              </a:rPr>
              <a:t>https://github.com/anthropics/knowledge-work-plugins</a:t>
            </a:r>
            <a:endParaRPr lang="en-CA" dirty="0"/>
          </a:p>
          <a:p>
            <a:endParaRPr lang="en-CA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4B393F-5B94-B10D-1184-798924AB9B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1276" y="2240211"/>
            <a:ext cx="5606453" cy="320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951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F4E2C-D694-CD74-7DAD-031848EF6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30EB28-25F4-12B2-43FD-8A91239CC0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589BF7-EEB3-0C98-FABE-E066F9149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0197C6F-12CB-5D9B-7679-EF3550CFDDEE}"/>
              </a:ext>
            </a:extLst>
          </p:cNvPr>
          <p:cNvSpPr/>
          <p:nvPr/>
        </p:nvSpPr>
        <p:spPr>
          <a:xfrm>
            <a:off x="293914" y="793804"/>
            <a:ext cx="557856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PRACTICE OPPORTUNITY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00B1E5-07FD-6C0A-A8F0-7A7E9AB1B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871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8D0BA-2A5B-EFC2-2A76-ABBAB343B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F4F87E-7D3D-A45F-2D2E-AA2A6CA96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5A0E7D-17EB-39B5-513A-4F369F4159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D9F67C98-434B-3933-974C-654476200D98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Practice Opportunity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3EA2EA-CEE6-0BED-A66A-D5DB66EFDE2B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1600">
                <a:solidFill>
                  <a:srgbClr val="666666"/>
                </a:solidFill>
                <a:latin typeface="Arial"/>
              </a:defRPr>
            </a:lvl1pPr>
          </a:lstStyle>
          <a:p>
            <a:r>
              <a:rPr lang="en-US" dirty="0"/>
              <a:t>© All rights reserved for Dr. Ryan Ahmed @Stemplicity Inc.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79717C-6872-93C8-0E7A-D45064B2FD50}"/>
              </a:ext>
            </a:extLst>
          </p:cNvPr>
          <p:cNvSpPr txBox="1"/>
          <p:nvPr/>
        </p:nvSpPr>
        <p:spPr>
          <a:xfrm>
            <a:off x="154722" y="1166842"/>
            <a:ext cx="990367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46"/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Create a local Codex skill named @linkedin-post-coach by adapting this </a:t>
            </a:r>
            <a:r>
              <a:rPr lang="en-US" sz="1600" dirty="0" err="1">
                <a:solidFill>
                  <a:srgbClr val="000000"/>
                </a:solidFill>
                <a:latin typeface="Montserrat" panose="00000500000000000000" pitchFamily="2" charset="0"/>
              </a:rPr>
              <a:t>SkillHub</a:t>
            </a:r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 example:</a:t>
            </a:r>
          </a:p>
          <a:p>
            <a:pPr defTabSz="914446"/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  <a:hlinkClick r:id="rId4"/>
              </a:rPr>
              <a:t>https://www.skillhub.club/skills/different-ai-zero-finance-linkedin-post</a:t>
            </a:r>
            <a:endParaRPr lang="en-US" sz="1600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defTabSz="914446"/>
            <a:endParaRPr lang="en-US" sz="1600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defTabSz="914446"/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Then use @linkedin-post-coach to turn a rough idea into a polished LinkedIn post.</a:t>
            </a:r>
          </a:p>
          <a:p>
            <a:pPr defTabSz="914446"/>
            <a:endParaRPr lang="en-US" sz="1600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defTabSz="914446"/>
            <a:r>
              <a:rPr lang="en-US" sz="1600" b="1" dirty="0">
                <a:solidFill>
                  <a:srgbClr val="000000"/>
                </a:solidFill>
                <a:latin typeface="Montserrat" panose="00000500000000000000" pitchFamily="2" charset="0"/>
              </a:rPr>
              <a:t>Tasks:</a:t>
            </a:r>
          </a:p>
          <a:p>
            <a:pPr defTabSz="914446"/>
            <a:endParaRPr lang="en-US" sz="1600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marL="342900" indent="-342900" defTabSz="914446"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Use @skill-creator to create: .agents/skills/linkedin-post-coach/SKILL.md</a:t>
            </a:r>
          </a:p>
          <a:p>
            <a:pPr marL="342900" indent="-342900" defTabSz="914446"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Then use @linkedin-post-coach to create a LinkedIn post about the state of AI using the report attached.</a:t>
            </a:r>
          </a:p>
          <a:p>
            <a:pPr defTabSz="914446"/>
            <a:endParaRPr lang="en-US" sz="1600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defTabSz="914446"/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Final output should include:</a:t>
            </a:r>
          </a:p>
          <a:p>
            <a:pPr defTabSz="914446"/>
            <a:endParaRPr lang="en-US" sz="1600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marL="285750" indent="-285750" defTabSz="914446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3 hook options</a:t>
            </a:r>
          </a:p>
          <a:p>
            <a:pPr marL="285750" indent="-285750" defTabSz="914446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1 polished LinkedIn post</a:t>
            </a:r>
          </a:p>
          <a:p>
            <a:pPr marL="285750" indent="-285750" defTabSz="914446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3 CTA options</a:t>
            </a:r>
          </a:p>
          <a:p>
            <a:pPr marL="285750" indent="-285750" defTabSz="914446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5 hashtag suggestions</a:t>
            </a:r>
          </a:p>
          <a:p>
            <a:pPr defTabSz="914446"/>
            <a:endParaRPr lang="en-US" sz="1600" dirty="0">
              <a:solidFill>
                <a:srgbClr val="000000"/>
              </a:solidFill>
              <a:latin typeface="Montserrat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65F421-6CE5-1938-172B-83FE0D31FE0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67823" y="639605"/>
            <a:ext cx="3060152" cy="2421464"/>
          </a:xfrm>
          <a:prstGeom prst="rect">
            <a:avLst/>
          </a:prstGeom>
        </p:spPr>
      </p:pic>
      <p:sp>
        <p:nvSpPr>
          <p:cNvPr id="8" name="AutoShape 2">
            <a:hlinkClick r:id="rId4"/>
            <a:extLst>
              <a:ext uri="{FF2B5EF4-FFF2-40B4-BE49-F238E27FC236}">
                <a16:creationId xmlns:a16="http://schemas.microsoft.com/office/drawing/2014/main" id="{1E13A083-0E48-5A1E-3D76-A5427F4628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150" y="-11128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0843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ictur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990" y="1992488"/>
            <a:ext cx="5198017" cy="14365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06715" y="3495040"/>
            <a:ext cx="55785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>
                <a:solidFill>
                  <a:srgbClr val="FFFFFF"/>
                </a:solidFill>
                <a:latin typeface="Montserrat"/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549</Words>
  <Application>Microsoft Office PowerPoint</Application>
  <PresentationFormat>Widescreen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Ryan Ahmed</cp:lastModifiedBy>
  <cp:revision>30</cp:revision>
  <dcterms:created xsi:type="dcterms:W3CDTF">2013-01-27T09:14:16Z</dcterms:created>
  <dcterms:modified xsi:type="dcterms:W3CDTF">2026-06-14T15:17:51Z</dcterms:modified>
  <cp:category/>
</cp:coreProperties>
</file>